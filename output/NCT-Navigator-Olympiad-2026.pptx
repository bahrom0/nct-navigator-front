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79db03ad92f498e" /><Relationship Type="http://schemas.openxmlformats.org/officeDocument/2006/relationships/extended-properties" Target="/docProps/app.xml" Id="R6021d3ae597c4402" /><Relationship Type="http://schemas.openxmlformats.org/officeDocument/2006/relationships/officeDocument" Target="/ppt/presentation.xml" Id="R8da3ce078afc441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581184781fd4aa2"/>
  </p:sldMasterIdLst>
  <p:notesMasterIdLst>
    <p:notesMasterId xmlns:r="http://schemas.openxmlformats.org/officeDocument/2006/relationships" r:id="Rbe209d62de144f92"/>
  </p:notesMasterIdLst>
  <p:sldIdLst>
    <p:sldId xmlns:r="http://schemas.openxmlformats.org/officeDocument/2006/relationships" id="256" r:id="Rd2b4686753f94d64"/>
    <p:sldId xmlns:r="http://schemas.openxmlformats.org/officeDocument/2006/relationships" id="257" r:id="Rc473b1df0e164e92"/>
    <p:sldId xmlns:r="http://schemas.openxmlformats.org/officeDocument/2006/relationships" id="258" r:id="R45b8819d513f472d"/>
    <p:sldId xmlns:r="http://schemas.openxmlformats.org/officeDocument/2006/relationships" id="259" r:id="Ra8a77987886a4503"/>
    <p:sldId xmlns:r="http://schemas.openxmlformats.org/officeDocument/2006/relationships" id="260" r:id="Rca7408ecc6074b7b"/>
    <p:sldId xmlns:r="http://schemas.openxmlformats.org/officeDocument/2006/relationships" id="261" r:id="R634be7ff0a724d33"/>
    <p:sldId xmlns:r="http://schemas.openxmlformats.org/officeDocument/2006/relationships" id="262" r:id="Rb72dc812a52241b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e9e7707af324650" /><Relationship Type="http://schemas.openxmlformats.org/officeDocument/2006/relationships/slideMaster" Target="/ppt/slideMasters/slideMaster1.xml" Id="R2581184781fd4aa2" /><Relationship Type="http://schemas.openxmlformats.org/officeDocument/2006/relationships/notesMaster" Target="/ppt/notesMasters/notesMaster1.xml" Id="Rbe209d62de144f92" /><Relationship Type="http://schemas.openxmlformats.org/officeDocument/2006/relationships/presProps" Target="/ppt/presProps.xml" Id="R6ac338c4f63f4c56" /><Relationship Type="http://schemas.openxmlformats.org/officeDocument/2006/relationships/tableStyles" Target="/ppt/tableStyles.xml" Id="R761a0708f1934b12" /><Relationship Type="http://schemas.openxmlformats.org/officeDocument/2006/relationships/slide" Target="/ppt/slides/slide1.xml" Id="Rd2b4686753f94d64" /><Relationship Type="http://schemas.openxmlformats.org/officeDocument/2006/relationships/slide" Target="/ppt/slides/slide2.xml" Id="Rc473b1df0e164e92" /><Relationship Type="http://schemas.openxmlformats.org/officeDocument/2006/relationships/slide" Target="/ppt/slides/slide3.xml" Id="R45b8819d513f472d" /><Relationship Type="http://schemas.openxmlformats.org/officeDocument/2006/relationships/slide" Target="/ppt/slides/slide4.xml" Id="Ra8a77987886a4503" /><Relationship Type="http://schemas.openxmlformats.org/officeDocument/2006/relationships/slide" Target="/ppt/slides/slide5.xml" Id="Rca7408ecc6074b7b" /><Relationship Type="http://schemas.openxmlformats.org/officeDocument/2006/relationships/slide" Target="/ppt/slides/slide6.xml" Id="R634be7ff0a724d33" /><Relationship Type="http://schemas.openxmlformats.org/officeDocument/2006/relationships/slide" Target="/ppt/slides/slide7.xml" Id="Rb72dc812a52241b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427d821cac54a5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2096ab69408442b" /><Relationship Type="http://schemas.openxmlformats.org/officeDocument/2006/relationships/notesMaster" Target="/ppt/notesMasters/notesMaster1.xml" Id="Re65fc2cbf53b43c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dbfda2bc6664b27" /><Relationship Type="http://schemas.openxmlformats.org/officeDocument/2006/relationships/notesMaster" Target="/ppt/notesMasters/notesMaster1.xml" Id="R3cd028798a7d4cf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948c4652cb440f3" /><Relationship Type="http://schemas.openxmlformats.org/officeDocument/2006/relationships/notesMaster" Target="/ppt/notesMasters/notesMaster1.xml" Id="Rbb55947525894de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25a452832be4d72" /><Relationship Type="http://schemas.openxmlformats.org/officeDocument/2006/relationships/notesMaster" Target="/ppt/notesMasters/notesMaster1.xml" Id="R270d945d107a42d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fbdbb819f394542" /><Relationship Type="http://schemas.openxmlformats.org/officeDocument/2006/relationships/notesMaster" Target="/ppt/notesMasters/notesMaster1.xml" Id="R6fb0790d43cc4b3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9fd595ebc7f422e" /><Relationship Type="http://schemas.openxmlformats.org/officeDocument/2006/relationships/notesMaster" Target="/ppt/notesMasters/notesMaster1.xml" Id="R4fd1d66f8a18418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8e61bda0ed94f21" /><Relationship Type="http://schemas.openxmlformats.org/officeDocument/2006/relationships/notesMaster" Target="/ppt/notesMasters/notesMaster1.xml" Id="R7e774fd1a7d9478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Asset: local project logo C:/Users/bahro/Desktop/nct-navigator-front/public/presentation/icon-nct-dark.png.</a:t>
            </a:r>
          </a:p>
          <a:p xmlns:a="http://schemas.openxmlformats.org/drawingml/2006/main">
            <a:r>
              <a:t>The title and product description are based on the current repository flow in src/app/recommendations/page.tsx and src/lib/recommendations/service.ts.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Internal product framing based on the current recommendations flow in src/app/recommendations/page.tsx and data/reports/ntc/product_features.md.</a:t>
            </a:r>
          </a:p>
          <a:p xmlns:a="http://schemas.openxmlformats.org/drawingml/2006/main">
            <a:r>
              <a:t>No external statistics are used on this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Internal product flow based on src/app/recommendations/page.tsx (recommendations, filters, selection -&gt; interview) and routes in src/app/plan, src/app/coach, src/app/interview.</a:t>
            </a:r>
          </a:p>
          <a:p xmlns:a="http://schemas.openxmlformats.org/drawingml/2006/main">
            <a:r>
              <a:t>No external statistics are used on this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Internal data sources: data/exports/ntc/nct_release_manifest.json, data/reports/ntc/stage3_quality.json, and data/reports/ntc/product_features.md.</a:t>
            </a:r>
          </a:p>
          <a:p xmlns:a="http://schemas.openxmlformats.org/drawingml/2006/main">
            <a:r>
              <a:t>The 1,389 figure is a count of published admission offers, not a count of applicants. The 140 figure is excluded rows pending review.</a:t>
            </a:r>
          </a:p>
          <a:p xmlns:a="http://schemas.openxmlformats.org/drawingml/2006/main">
            <a:r>
              <a:t>The release snapshot is dated 2026-07-15.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Internal implementation sources: src/app/recommendations/page.tsx; src/lib/recommendations/service.ts; src/lib/search/engine.ts; src/lib/ai/analyze-interest-profile.ts; src/lib/ai/finalize-recommendations.ts.</a:t>
            </a:r>
          </a:p>
          <a:p xmlns:a="http://schemas.openxmlformats.org/drawingml/2006/main">
            <a:r>
              <a:t>buildRecommendations runs interest analysis, builds a local candidate pool, locally ranks NCT results, then applies AI final ranking. AI is given a shortlist and the code falls back to local ranking when the AI step fails.</a:t>
            </a:r>
          </a:p>
          <a:p xmlns:a="http://schemas.openxmlformats.org/drawingml/2006/main">
            <a:r>
              <a:t>The diagram is intentionally simplified to the critical path for an olympiad audience.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Official source: https://www.ntc.tj/tj/hamai-khabarho/o-ozi-asosii-imd-2026.html — 139,163 main-period registrants; 116,560 after grade 11/professional education; 22,603 after grade 9; 55 exam sites in 22 cities/districts; 1,527 classrooms.</a:t>
            </a:r>
          </a:p>
          <a:p xmlns:a="http://schemas.openxmlformats.org/drawingml/2006/main">
            <a:r>
              <a:t>Official source: https://www.ntc.tj/tj/hamai-khabarho/davri-duyumi-imd-2026-ism-oi-a-va-b.html — 10,394 registrants in the second period, including 7,245 after grade 11/professional education and 3,149 after grade 9.</a:t>
            </a:r>
          </a:p>
          <a:p xmlns:a="http://schemas.openxmlformats.org/drawingml/2006/main">
            <a:r>
              <a:t>Visible percentages are calculated from the official main-period breakdown and rounded to whole percentages. Separate registration periods are not summed as unique people.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Internal conclusion based on the product flow in src/app/recommendations/page.tsx, src/app/interview/page.tsx, src/app/plan/page.tsx, and src/app/coach/page.tsx.</a:t>
            </a:r>
          </a:p>
          <a:p xmlns:a="http://schemas.openxmlformats.org/drawingml/2006/main">
            <a:r>
              <a:t>Asset: local project logo C:/Users/bahro/Desktop/nct-navigator-front/public/presentation/icon-nct-dark.png.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d52bc1222649b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b19bfb70db74106" /><Relationship Type="http://schemas.openxmlformats.org/officeDocument/2006/relationships/slideLayout" Target="/ppt/slideLayouts/slideLayout1.xml" Id="R83cd65e31e734ee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3cd65e31e734ee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3c61a7fa4c4277" /><Relationship Type="http://schemas.openxmlformats.org/officeDocument/2006/relationships/image" Target="/ppt/media/image.png" Id="R601f9cceb3ac4ed6" /><Relationship Type="http://schemas.openxmlformats.org/officeDocument/2006/relationships/notesSlide" Target="/ppt/notesSlides/notesSlide1.xml" Id="R5ce90e95ce0948b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6bc3d0f94c45e9" /><Relationship Type="http://schemas.openxmlformats.org/officeDocument/2006/relationships/notesSlide" Target="/ppt/notesSlides/notesSlide2.xml" Id="R09372d689f3d453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9da3d4591b414d" /><Relationship Type="http://schemas.openxmlformats.org/officeDocument/2006/relationships/notesSlide" Target="/ppt/notesSlides/notesSlide3.xml" Id="R6a0cf89db9c6485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de015cdcaf498c" /><Relationship Type="http://schemas.openxmlformats.org/officeDocument/2006/relationships/notesSlide" Target="/ppt/notesSlides/notesSlide4.xml" Id="Ra68cc56e6eab4ae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f67cc94a7c4ba3" /><Relationship Type="http://schemas.openxmlformats.org/officeDocument/2006/relationships/notesSlide" Target="/ppt/notesSlides/notesSlide5.xml" Id="R639be6654e7a44a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abcfed85f5448b" /><Relationship Type="http://schemas.openxmlformats.org/officeDocument/2006/relationships/notesSlide" Target="/ppt/notesSlides/notesSlide6.xml" Id="R6a1082de612244d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24ea9cac4a4ad8" /><Relationship Type="http://schemas.openxmlformats.org/officeDocument/2006/relationships/image" Target="/ppt/media/image2.png" Id="Ra999376cdebb4a89" /><Relationship Type="http://schemas.openxmlformats.org/officeDocument/2006/relationships/notesSlide" Target="/ppt/notesSlides/notesSlide7.xml" Id="R8baa3a87f9c64233" /></Relationships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C0F13"/>
            </a:gs>
            <a:gs pos="58000">
              <a:srgbClr val="15191F"/>
            </a:gs>
            <a:gs pos="100000">
              <a:srgbClr val="241D17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itle-orbit-outer">
            <a:extLst xmlns:a="http://schemas.openxmlformats.org/drawingml/2006/main">
              <a:ext uri="{FF2B5EF4-FFF2-40B4-BE49-F238E27FC236}">
                <a16:creationId xmlns:a16="http://schemas.microsoft.com/office/drawing/2014/main" id="{49EE41FE-B25D-4D87-8DF8-5EE71E2E5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200150"/>
            <a:ext cx="3429000" cy="226314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BC95">
                <a:alpha val="26000"/>
              </a:srgbClr>
            </a:solidFill>
            <a:prstDash val="solid"/>
          </a:ln>
        </p:spPr>
      </p:sp>
      <p:sp>
        <p:nvSpPr>
          <p:cNvPr id="2" name="title-orbit-inner">
            <a:extLst xmlns:a="http://schemas.openxmlformats.org/drawingml/2006/main">
              <a:ext uri="{FF2B5EF4-FFF2-40B4-BE49-F238E27FC236}">
                <a16:creationId xmlns:a16="http://schemas.microsoft.com/office/drawing/2014/main" id="{D1C1DC15-D8CC-465B-B885-195F8EB60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4360" y="1680210"/>
            <a:ext cx="2468880" cy="130302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BC95">
                <a:alpha val="26000"/>
              </a:srgbClr>
            </a:solidFill>
            <a:prstDash val="solid"/>
          </a:ln>
        </p:spPr>
      </p:sp>
      <p:sp>
        <p:nvSpPr>
          <p:cNvPr id="3" name="title-orbit-dot">
            <a:extLst xmlns:a="http://schemas.openxmlformats.org/drawingml/2006/main">
              <a:ext uri="{FF2B5EF4-FFF2-40B4-BE49-F238E27FC236}">
                <a16:creationId xmlns:a16="http://schemas.microsoft.com/office/drawing/2014/main" id="{34ACDF1E-36C2-4637-B1D9-EE8B6DF6B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0340" y="15430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8E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-dot-1">
            <a:extLst xmlns:a="http://schemas.openxmlformats.org/drawingml/2006/main">
              <a:ext uri="{FF2B5EF4-FFF2-40B4-BE49-F238E27FC236}">
                <a16:creationId xmlns:a16="http://schemas.microsoft.com/office/drawing/2014/main" id="{27731047-332F-4DC4-BFE1-650E791A1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4765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BC9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itle-dot-2">
            <a:extLst xmlns:a="http://schemas.openxmlformats.org/drawingml/2006/main">
              <a:ext uri="{FF2B5EF4-FFF2-40B4-BE49-F238E27FC236}">
                <a16:creationId xmlns:a16="http://schemas.microsoft.com/office/drawing/2014/main" id="{3B1773C7-B8FA-4FD2-AE2D-4687F67FD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7434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8E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itle-kicker">
            <a:extLst xmlns:a="http://schemas.openxmlformats.org/drawingml/2006/main">
              <a:ext uri="{FF2B5EF4-FFF2-40B4-BE49-F238E27FC236}">
                <a16:creationId xmlns:a16="http://schemas.microsoft.com/office/drawing/2014/main" id="{B930BD1D-D993-4F68-BF2D-14E3CBE2A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859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79B9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9B9FF"/>
                </a:solidFill>
                <a:latin typeface="Arial"/>
                <a:ea typeface="Arial"/>
                <a:cs typeface="Arial"/>
              </a:rPr>
              <a:t>NCT / НАВИГАТОР ПОСТУПЛЕНИЯ</a:t>
            </a:r>
          </a:p>
        </p:txBody>
      </p:sp>
      <p:sp>
        <p:nvSpPr>
          <p:cNvPr id="7" name="title-main">
            <a:extLst xmlns:a="http://schemas.openxmlformats.org/drawingml/2006/main">
              <a:ext uri="{FF2B5EF4-FFF2-40B4-BE49-F238E27FC236}">
                <a16:creationId xmlns:a16="http://schemas.microsoft.com/office/drawing/2014/main" id="{78AF5722-176F-4C1D-94C5-76D1CA15F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62150"/>
            <a:ext cx="666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4800" b="1">
                <a:solidFill>
                  <a:srgbClr val="F5F0E7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5F0E7"/>
                </a:solidFill>
                <a:latin typeface="Arial"/>
                <a:ea typeface="Arial"/>
                <a:cs typeface="Arial"/>
              </a:rPr>
              <a:t>NCT Navigator</a:t>
            </a:r>
          </a:p>
        </p:txBody>
      </p:sp>
      <p:sp>
        <p:nvSpPr>
          <p:cNvPr id="8" name="title-subtitle">
            <a:extLst xmlns:a="http://schemas.openxmlformats.org/drawingml/2006/main">
              <a:ext uri="{FF2B5EF4-FFF2-40B4-BE49-F238E27FC236}">
                <a16:creationId xmlns:a16="http://schemas.microsoft.com/office/drawing/2014/main" id="{C8A19566-1E9B-4C88-A05B-DBECCA117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28950"/>
            <a:ext cx="5905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100">
                <a:solidFill>
                  <a:srgbClr val="E9E0D1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E9E0D1"/>
                </a:solidFill>
                <a:latin typeface="Arial"/>
                <a:ea typeface="Arial"/>
                <a:cs typeface="Arial"/>
              </a:rPr>
              <a:t>От интересов и условий поступления —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100">
                <a:solidFill>
                  <a:srgbClr val="E9E0D1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E9E0D1"/>
                </a:solidFill>
                <a:latin typeface="Arial"/>
                <a:ea typeface="Arial"/>
                <a:cs typeface="Arial"/>
              </a:rPr>
              <a:t>к конкретному коду НЦТ и плану действий.</a:t>
            </a:r>
          </a:p>
        </p:txBody>
      </p:sp>
      <p:sp>
        <p:nvSpPr>
          <p:cNvPr id="9" name="title-accent-rule">
            <a:extLst xmlns:a="http://schemas.openxmlformats.org/drawingml/2006/main">
              <a:ext uri="{FF2B5EF4-FFF2-40B4-BE49-F238E27FC236}">
                <a16:creationId xmlns:a16="http://schemas.microsoft.com/office/drawing/2014/main" id="{D1F1AF68-E88B-4DEF-A0AE-027C33F9C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71950"/>
            <a:ext cx="800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8E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itle-context">
            <a:extLst xmlns:a="http://schemas.openxmlformats.org/drawingml/2006/main">
              <a:ext uri="{FF2B5EF4-FFF2-40B4-BE49-F238E27FC236}">
                <a16:creationId xmlns:a16="http://schemas.microsoft.com/office/drawing/2014/main" id="{C524E0AF-58CB-4F05-A3AE-19D75340E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8150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>
                <a:solidFill>
                  <a:srgbClr val="D5BC95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D5BC95"/>
                </a:solidFill>
                <a:latin typeface="Arial"/>
                <a:ea typeface="Arial"/>
                <a:cs typeface="Arial"/>
              </a:rPr>
              <a:t>Проект для абитуриентов Таджикистана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1f9cceb3ac4ed6"/>
          <a:stretch xmlns:a="http://schemas.openxmlformats.org/drawingml/2006/main"/>
        </p:blipFill>
        <p:spPr>
          <a:xfrm xmlns:a="http://schemas.openxmlformats.org/drawingml/2006/main">
            <a:off x="8061128" y="2381250"/>
            <a:ext cx="2794395" cy="1352550"/>
          </a:xfrm>
          <a:prstGeom xmlns:a="http://schemas.openxmlformats.org/drawingml/2006/main" prst="rect">
            <a:avLst/>
          </a:prstGeom>
        </p:spPr>
      </p:pic>
      <p:sp>
        <p:nvSpPr>
          <p:cNvPr id="12" name="title-footer">
            <a:extLst xmlns:a="http://schemas.openxmlformats.org/drawingml/2006/main">
              <a:ext uri="{FF2B5EF4-FFF2-40B4-BE49-F238E27FC236}">
                <a16:creationId xmlns:a16="http://schemas.microsoft.com/office/drawing/2014/main" id="{EAA1E71F-7A31-4A30-BD53-F730BA1F6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8483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9AA0A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9AA0A5"/>
                </a:solidFill>
                <a:latin typeface="Arial"/>
                <a:ea typeface="Arial"/>
                <a:cs typeface="Arial"/>
              </a:rPr>
              <a:t>ОЛИМПИАДА  •  2026</a:t>
            </a:r>
          </a:p>
        </p:txBody>
      </p:sp>
      <p:sp>
        <p:nvSpPr>
          <p:cNvPr id="13" name="title-page">
            <a:extLst xmlns:a="http://schemas.openxmlformats.org/drawingml/2006/main">
              <a:ext uri="{FF2B5EF4-FFF2-40B4-BE49-F238E27FC236}">
                <a16:creationId xmlns:a16="http://schemas.microsoft.com/office/drawing/2014/main" id="{0A54204B-7851-4007-B536-D5997A250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362700"/>
            <a:ext cx="99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E9E0D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9E0D1"/>
                </a:solidFill>
                <a:latin typeface="Arial"/>
                <a:ea typeface="Arial"/>
                <a:cs typeface="Arial"/>
              </a:rPr>
              <a:t>01 / 07</a:t>
            </a:r>
          </a:p>
        </p:txBody>
      </p:sp>
    </p:spTree>
    <p:extLst>
      <p:ext uri="{BB962C8B-B14F-4D97-AF65-F5344CB8AC3E}">
        <p14:creationId xmlns:p14="http://schemas.microsoft.com/office/powerpoint/2010/main" val="1652851858"/>
      </p:ext>
    </p:extLst>
  </p:cSld>
</p:sld>
</file>

<file path=ppt/slides/slide2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E1114"/>
            </a:gs>
            <a:gs pos="68000">
              <a:srgbClr val="161A20"/>
            </a:gs>
            <a:gs pos="100000">
              <a:srgbClr val="211C17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chrome-label-2">
            <a:extLst xmlns:a="http://schemas.openxmlformats.org/drawingml/2006/main">
              <a:ext uri="{FF2B5EF4-FFF2-40B4-BE49-F238E27FC236}">
                <a16:creationId xmlns:a16="http://schemas.microsoft.com/office/drawing/2014/main" id="{07EDEF3D-65FD-4475-AFA5-8B80DA339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9AA0A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9AA0A5"/>
                </a:solidFill>
                <a:latin typeface="Arial"/>
                <a:ea typeface="Arial"/>
                <a:cs typeface="Arial"/>
              </a:rPr>
              <a:t>NCT NAVIGATOR</a:t>
            </a:r>
          </a:p>
        </p:txBody>
      </p:sp>
      <p:sp>
        <p:nvSpPr>
          <p:cNvPr id="2" name="chrome-number-2">
            <a:extLst xmlns:a="http://schemas.openxmlformats.org/drawingml/2006/main">
              <a:ext uri="{FF2B5EF4-FFF2-40B4-BE49-F238E27FC236}">
                <a16:creationId xmlns:a16="http://schemas.microsoft.com/office/drawing/2014/main" id="{E42045A9-7F0D-4648-B418-33522E559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362700"/>
            <a:ext cx="99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E9E0D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9E0D1"/>
                </a:solidFill>
                <a:latin typeface="Arial"/>
                <a:ea typeface="Arial"/>
                <a:cs typeface="Arial"/>
              </a:rPr>
              <a:t>02 / 07</a:t>
            </a:r>
          </a:p>
        </p:txBody>
      </p:sp>
      <p:sp>
        <p:nvSpPr>
          <p:cNvPr id="3" name="chrome-rule-2">
            <a:extLst xmlns:a="http://schemas.openxmlformats.org/drawingml/2006/main">
              <a:ext uri="{FF2B5EF4-FFF2-40B4-BE49-F238E27FC236}">
                <a16:creationId xmlns:a16="http://schemas.microsoft.com/office/drawing/2014/main" id="{231A2898-6138-4CCD-BBBA-20A0413F2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kicker-Вариантов много, но маршрута нет">
            <a:extLst xmlns:a="http://schemas.openxmlformats.org/drawingml/2006/main">
              <a:ext uri="{FF2B5EF4-FFF2-40B4-BE49-F238E27FC236}">
                <a16:creationId xmlns:a16="http://schemas.microsoft.com/office/drawing/2014/main" id="{3BEFFF43-BFC9-4BBB-9D85-C037ED0D2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D5BC9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D5BC95"/>
                </a:solidFill>
                <a:latin typeface="Arial"/>
                <a:ea typeface="Arial"/>
                <a:cs typeface="Arial"/>
              </a:rPr>
              <a:t>ПРОБЛЕМА</a:t>
            </a:r>
          </a:p>
        </p:txBody>
      </p:sp>
      <p:sp>
        <p:nvSpPr>
          <p:cNvPr id="5" name="title-Вариантов много, но маршрута нет">
            <a:extLst xmlns:a="http://schemas.openxmlformats.org/drawingml/2006/main">
              <a:ext uri="{FF2B5EF4-FFF2-40B4-BE49-F238E27FC236}">
                <a16:creationId xmlns:a16="http://schemas.microsoft.com/office/drawing/2014/main" id="{565B8ED0-FDF9-4111-A00B-E62B62D4D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8572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000" b="1">
                <a:solidFill>
                  <a:srgbClr val="F5F0E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5F0E7"/>
                </a:solidFill>
                <a:latin typeface="Arial"/>
                <a:ea typeface="Arial"/>
                <a:cs typeface="Arial"/>
              </a:rPr>
              <a:t>Вариантов много, но маршрута нет</a:t>
            </a:r>
          </a:p>
        </p:txBody>
      </p:sp>
      <p:sp>
        <p:nvSpPr>
          <p:cNvPr id="6" name="problem-lead">
            <a:extLst xmlns:a="http://schemas.openxmlformats.org/drawingml/2006/main">
              <a:ext uri="{FF2B5EF4-FFF2-40B4-BE49-F238E27FC236}">
                <a16:creationId xmlns:a16="http://schemas.microsoft.com/office/drawing/2014/main" id="{A0C74295-DD44-4308-B832-64264EDEC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4762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F5F0E7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5F0E7"/>
                </a:solidFill>
                <a:latin typeface="Arial"/>
                <a:ea typeface="Arial"/>
                <a:cs typeface="Arial"/>
              </a:rPr>
              <a:t>Абитуриенту нужно не больше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F5F0E7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5F0E7"/>
                </a:solidFill>
                <a:latin typeface="Arial"/>
                <a:ea typeface="Arial"/>
                <a:cs typeface="Arial"/>
              </a:rPr>
              <a:t>информации. Ему нужен следующий шаг.</a:t>
            </a:r>
          </a:p>
        </p:txBody>
      </p:sp>
      <p:sp>
        <p:nvSpPr>
          <p:cNvPr id="7" name="problem-lead-rule">
            <a:extLst xmlns:a="http://schemas.openxmlformats.org/drawingml/2006/main">
              <a:ext uri="{FF2B5EF4-FFF2-40B4-BE49-F238E27FC236}">
                <a16:creationId xmlns:a16="http://schemas.microsoft.com/office/drawing/2014/main" id="{338A3130-648A-44A3-88CB-694F96402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8E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roblem-num-0">
            <a:extLst xmlns:a="http://schemas.openxmlformats.org/drawingml/2006/main">
              <a:ext uri="{FF2B5EF4-FFF2-40B4-BE49-F238E27FC236}">
                <a16:creationId xmlns:a16="http://schemas.microsoft.com/office/drawing/2014/main" id="{86D61B8B-176C-4D21-951E-A0B52529F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85950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79B9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79B9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problem-heading-0">
            <a:extLst xmlns:a="http://schemas.openxmlformats.org/drawingml/2006/main">
              <a:ext uri="{FF2B5EF4-FFF2-40B4-BE49-F238E27FC236}">
                <a16:creationId xmlns:a16="http://schemas.microsoft.com/office/drawing/2014/main" id="{51DCD1FD-E58D-41EC-8198-82AFBE4A9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1866900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F5F0E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F0E7"/>
                </a:solidFill>
                <a:latin typeface="Arial"/>
                <a:ea typeface="Arial"/>
                <a:cs typeface="Arial"/>
              </a:rPr>
              <a:t>Списки и коды разбросаны</a:t>
            </a:r>
          </a:p>
        </p:txBody>
      </p:sp>
      <p:sp>
        <p:nvSpPr>
          <p:cNvPr id="10" name="problem-body-0">
            <a:extLst xmlns:a="http://schemas.openxmlformats.org/drawingml/2006/main">
              <a:ext uri="{FF2B5EF4-FFF2-40B4-BE49-F238E27FC236}">
                <a16:creationId xmlns:a16="http://schemas.microsoft.com/office/drawing/2014/main" id="{891AB973-4679-44DA-A82F-B3A32C832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228850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>
                <a:solidFill>
                  <a:srgbClr val="E9E0D1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E9E0D1"/>
                </a:solidFill>
                <a:latin typeface="Arial"/>
                <a:ea typeface="Arial"/>
                <a:cs typeface="Arial"/>
              </a:rPr>
              <a:t>Данные есть, но они не собраны вокруг конкретного человека.</a:t>
            </a:r>
          </a:p>
        </p:txBody>
      </p:sp>
      <p:sp>
        <p:nvSpPr>
          <p:cNvPr id="11" name="problem-rule-0">
            <a:extLst xmlns:a="http://schemas.openxmlformats.org/drawingml/2006/main">
              <a:ext uri="{FF2B5EF4-FFF2-40B4-BE49-F238E27FC236}">
                <a16:creationId xmlns:a16="http://schemas.microsoft.com/office/drawing/2014/main" id="{CEC23630-DB13-48A7-B81B-609FF80A9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81300"/>
            <a:ext cx="4857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roblem-num-1">
            <a:extLst xmlns:a="http://schemas.openxmlformats.org/drawingml/2006/main">
              <a:ext uri="{FF2B5EF4-FFF2-40B4-BE49-F238E27FC236}">
                <a16:creationId xmlns:a16="http://schemas.microsoft.com/office/drawing/2014/main" id="{B1039C7E-2575-43A6-B67B-497C65793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52750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79B9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79B9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problem-heading-1">
            <a:extLst xmlns:a="http://schemas.openxmlformats.org/drawingml/2006/main">
              <a:ext uri="{FF2B5EF4-FFF2-40B4-BE49-F238E27FC236}">
                <a16:creationId xmlns:a16="http://schemas.microsoft.com/office/drawing/2014/main" id="{5D2AB78D-68E1-4E91-BB83-5F56DB6B5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933700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F5F0E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F0E7"/>
                </a:solidFill>
                <a:latin typeface="Arial"/>
                <a:ea typeface="Arial"/>
                <a:cs typeface="Arial"/>
              </a:rPr>
              <a:t>Условия меняют выбор</a:t>
            </a:r>
          </a:p>
        </p:txBody>
      </p:sp>
      <p:sp>
        <p:nvSpPr>
          <p:cNvPr id="14" name="problem-body-1">
            <a:extLst xmlns:a="http://schemas.openxmlformats.org/drawingml/2006/main">
              <a:ext uri="{FF2B5EF4-FFF2-40B4-BE49-F238E27FC236}">
                <a16:creationId xmlns:a16="http://schemas.microsoft.com/office/drawing/2014/main" id="{BA74A1D0-A184-4411-8618-F213B080C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295650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>
                <a:solidFill>
                  <a:srgbClr val="E9E0D1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E9E0D1"/>
                </a:solidFill>
                <a:latin typeface="Arial"/>
                <a:ea typeface="Arial"/>
                <a:cs typeface="Arial"/>
              </a:rPr>
              <a:t>Город, уровень образования и форма обучения отсекают часть вариантов.</a:t>
            </a:r>
          </a:p>
        </p:txBody>
      </p:sp>
      <p:sp>
        <p:nvSpPr>
          <p:cNvPr id="15" name="problem-rule-1">
            <a:extLst xmlns:a="http://schemas.openxmlformats.org/drawingml/2006/main">
              <a:ext uri="{FF2B5EF4-FFF2-40B4-BE49-F238E27FC236}">
                <a16:creationId xmlns:a16="http://schemas.microsoft.com/office/drawing/2014/main" id="{3B52F6D6-9606-4124-A57C-3B8AC5F71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48100"/>
            <a:ext cx="4857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roblem-num-2">
            <a:extLst xmlns:a="http://schemas.openxmlformats.org/drawingml/2006/main">
              <a:ext uri="{FF2B5EF4-FFF2-40B4-BE49-F238E27FC236}">
                <a16:creationId xmlns:a16="http://schemas.microsoft.com/office/drawing/2014/main" id="{29B035F5-27AB-4E87-B118-03A674D3B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19550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79B9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79B9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7" name="problem-heading-2">
            <a:extLst xmlns:a="http://schemas.openxmlformats.org/drawingml/2006/main">
              <a:ext uri="{FF2B5EF4-FFF2-40B4-BE49-F238E27FC236}">
                <a16:creationId xmlns:a16="http://schemas.microsoft.com/office/drawing/2014/main" id="{1B5AD2FC-9E6C-497F-AC53-59CF7B1DD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000500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F5F0E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F0E7"/>
                </a:solidFill>
                <a:latin typeface="Arial"/>
                <a:ea typeface="Arial"/>
                <a:cs typeface="Arial"/>
              </a:rPr>
              <a:t>После выбора нет плана</a:t>
            </a:r>
          </a:p>
        </p:txBody>
      </p:sp>
      <p:sp>
        <p:nvSpPr>
          <p:cNvPr id="18" name="problem-body-2">
            <a:extLst xmlns:a="http://schemas.openxmlformats.org/drawingml/2006/main">
              <a:ext uri="{FF2B5EF4-FFF2-40B4-BE49-F238E27FC236}">
                <a16:creationId xmlns:a16="http://schemas.microsoft.com/office/drawing/2014/main" id="{677105FE-E097-47F0-923B-F63988321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362450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>
                <a:solidFill>
                  <a:srgbClr val="E9E0D1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E9E0D1"/>
                </a:solidFill>
                <a:latin typeface="Arial"/>
                <a:ea typeface="Arial"/>
                <a:cs typeface="Arial"/>
              </a:rPr>
              <a:t>Специальность не связана с понятной подготовкой.</a:t>
            </a:r>
          </a:p>
        </p:txBody>
      </p:sp>
      <p:sp>
        <p:nvSpPr>
          <p:cNvPr id="19" name="problem-bottom">
            <a:extLst xmlns:a="http://schemas.openxmlformats.org/drawingml/2006/main">
              <a:ext uri="{FF2B5EF4-FFF2-40B4-BE49-F238E27FC236}">
                <a16:creationId xmlns:a16="http://schemas.microsoft.com/office/drawing/2014/main" id="{1A3B258A-10BA-4324-85FA-6D5D81086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021080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B49770">
              <a:alpha val="16000"/>
            </a:srgbClr>
          </a:solidFill>
          <a:ln xmlns:a="http://schemas.openxmlformats.org/drawingml/2006/main" w="9525">
            <a:solidFill>
              <a:srgbClr val="B49770">
                <a:alpha val="34000"/>
              </a:srgbClr>
            </a:solidFill>
            <a:prstDash val="solid"/>
          </a:ln>
        </p:spPr>
      </p:sp>
      <p:sp>
        <p:nvSpPr>
          <p:cNvPr id="20" name="problem-bottom-text">
            <a:extLst xmlns:a="http://schemas.openxmlformats.org/drawingml/2006/main">
              <a:ext uri="{FF2B5EF4-FFF2-40B4-BE49-F238E27FC236}">
                <a16:creationId xmlns:a16="http://schemas.microsoft.com/office/drawing/2014/main" id="{11633C07-FA71-488B-A27E-FA6780CE6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6255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>
                <a:solidFill>
                  <a:srgbClr val="D5BC9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5BC95"/>
                </a:solidFill>
                <a:latin typeface="Arial"/>
                <a:ea typeface="Arial"/>
                <a:cs typeface="Arial"/>
              </a:rPr>
              <a:t>Проблема не в отсутствии данных — проблема в отсутствии навигации.</a:t>
            </a:r>
          </a:p>
        </p:txBody>
      </p:sp>
    </p:spTree>
    <p:extLst>
      <p:ext uri="{BB962C8B-B14F-4D97-AF65-F5344CB8AC3E}">
        <p14:creationId xmlns:p14="http://schemas.microsoft.com/office/powerpoint/2010/main" val="143990775"/>
      </p:ext>
    </p:extLst>
  </p:cSld>
</p:sld>
</file>

<file path=ppt/slides/slide3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7F4EE"/>
            </a:gs>
            <a:gs pos="100000">
              <a:srgbClr val="EEE7DC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chrome-label-3">
            <a:extLst xmlns:a="http://schemas.openxmlformats.org/drawingml/2006/main">
              <a:ext uri="{FF2B5EF4-FFF2-40B4-BE49-F238E27FC236}">
                <a16:creationId xmlns:a16="http://schemas.microsoft.com/office/drawing/2014/main" id="{56688AF2-FE02-486B-B0B5-EC003FB64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69707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97078"/>
                </a:solidFill>
                <a:latin typeface="Arial"/>
                <a:ea typeface="Arial"/>
                <a:cs typeface="Arial"/>
              </a:rPr>
              <a:t>NCT NAVIGATOR</a:t>
            </a:r>
          </a:p>
        </p:txBody>
      </p:sp>
      <p:sp>
        <p:nvSpPr>
          <p:cNvPr id="2" name="chrome-number-3">
            <a:extLst xmlns:a="http://schemas.openxmlformats.org/drawingml/2006/main">
              <a:ext uri="{FF2B5EF4-FFF2-40B4-BE49-F238E27FC236}">
                <a16:creationId xmlns:a16="http://schemas.microsoft.com/office/drawing/2014/main" id="{F51093DE-007C-4AC8-8B3B-EAA25CD3D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362700"/>
            <a:ext cx="99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0E111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E1114"/>
                </a:solidFill>
                <a:latin typeface="Arial"/>
                <a:ea typeface="Arial"/>
                <a:cs typeface="Arial"/>
              </a:rPr>
              <a:t>03 / 07</a:t>
            </a:r>
          </a:p>
        </p:txBody>
      </p:sp>
      <p:sp>
        <p:nvSpPr>
          <p:cNvPr id="3" name="chrome-rule-3">
            <a:extLst xmlns:a="http://schemas.openxmlformats.org/drawingml/2006/main">
              <a:ext uri="{FF2B5EF4-FFF2-40B4-BE49-F238E27FC236}">
                <a16:creationId xmlns:a16="http://schemas.microsoft.com/office/drawing/2014/main" id="{C0AAA12C-5D9F-4078-902F-686C0B8B5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114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kicker-Один маршрут — от профиля до цели">
            <a:extLst xmlns:a="http://schemas.openxmlformats.org/drawingml/2006/main">
              <a:ext uri="{FF2B5EF4-FFF2-40B4-BE49-F238E27FC236}">
                <a16:creationId xmlns:a16="http://schemas.microsoft.com/office/drawing/2014/main" id="{205E685C-A26A-45DB-9310-26CB5DB53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2A8EF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A8EF0"/>
                </a:solidFill>
                <a:latin typeface="Arial"/>
                <a:ea typeface="Arial"/>
                <a:cs typeface="Arial"/>
              </a:rPr>
              <a:t>РЕШЕНИЕ</a:t>
            </a:r>
          </a:p>
        </p:txBody>
      </p:sp>
      <p:sp>
        <p:nvSpPr>
          <p:cNvPr id="5" name="title-Один маршрут — от профиля до цели">
            <a:extLst xmlns:a="http://schemas.openxmlformats.org/drawingml/2006/main">
              <a:ext uri="{FF2B5EF4-FFF2-40B4-BE49-F238E27FC236}">
                <a16:creationId xmlns:a16="http://schemas.microsoft.com/office/drawing/2014/main" id="{BD9CD22D-CF97-43D9-8845-CCE12BE46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8572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000" b="1">
                <a:solidFill>
                  <a:srgbClr val="0E1114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E1114"/>
                </a:solidFill>
                <a:latin typeface="Arial"/>
                <a:ea typeface="Arial"/>
                <a:cs typeface="Arial"/>
              </a:rPr>
              <a:t>Один маршрут — от профиля до цели</a:t>
            </a:r>
          </a:p>
        </p:txBody>
      </p:sp>
      <p:sp>
        <p:nvSpPr>
          <p:cNvPr id="6" name="solution-sub">
            <a:extLst xmlns:a="http://schemas.openxmlformats.org/drawingml/2006/main">
              <a:ext uri="{FF2B5EF4-FFF2-40B4-BE49-F238E27FC236}">
                <a16:creationId xmlns:a16="http://schemas.microsoft.com/office/drawing/2014/main" id="{55A6DAEC-4C40-42C4-9800-4E99993B0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923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>
                <a:solidFill>
                  <a:srgbClr val="697078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697078"/>
                </a:solidFill>
                <a:latin typeface="Arial"/>
                <a:ea typeface="Arial"/>
                <a:cs typeface="Arial"/>
              </a:rPr>
              <a:t>Navigator собирает контекст, сужает выбор и сразу показывает, что делать дальше.</a:t>
            </a:r>
          </a:p>
        </p:txBody>
      </p:sp>
      <p:sp>
        <p:nvSpPr>
          <p:cNvPr id="7" name="solution-box-0">
            <a:extLst xmlns:a="http://schemas.openxmlformats.org/drawingml/2006/main">
              <a:ext uri="{FF2B5EF4-FFF2-40B4-BE49-F238E27FC236}">
                <a16:creationId xmlns:a16="http://schemas.microsoft.com/office/drawing/2014/main" id="{33ADE80A-CAEC-41C9-B17A-72ADA6333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2266950" cy="1952625"/>
          </a:xfrm>
          <a:prstGeom xmlns:a="http://schemas.openxmlformats.org/drawingml/2006/main" prst="roundRect">
            <a:avLst>
              <a:gd name="adj" fmla="val 78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E1114">
                <a:alpha val="12000"/>
              </a:srgbClr>
            </a:solidFill>
            <a:prstDash val="solid"/>
          </a:ln>
        </p:spPr>
      </p:sp>
      <p:sp>
        <p:nvSpPr>
          <p:cNvPr id="8" name="solution-num-0">
            <a:extLst xmlns:a="http://schemas.openxmlformats.org/drawingml/2006/main">
              <a:ext uri="{FF2B5EF4-FFF2-40B4-BE49-F238E27FC236}">
                <a16:creationId xmlns:a16="http://schemas.microsoft.com/office/drawing/2014/main" id="{6A7EB039-05E9-4F86-8CC0-B250C97FB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241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A8EF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A8EF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solution-heading-0">
            <a:extLst xmlns:a="http://schemas.openxmlformats.org/drawingml/2006/main">
              <a:ext uri="{FF2B5EF4-FFF2-40B4-BE49-F238E27FC236}">
                <a16:creationId xmlns:a16="http://schemas.microsoft.com/office/drawing/2014/main" id="{C806A4C9-3A75-4E37-B10A-67548E8CF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242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E111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E1114"/>
                </a:solidFill>
                <a:latin typeface="Arial"/>
                <a:ea typeface="Arial"/>
                <a:cs typeface="Arial"/>
              </a:rPr>
              <a:t>Профиль</a:t>
            </a:r>
          </a:p>
        </p:txBody>
      </p:sp>
      <p:sp>
        <p:nvSpPr>
          <p:cNvPr id="10" name="solution-body-0">
            <a:extLst xmlns:a="http://schemas.openxmlformats.org/drawingml/2006/main">
              <a:ext uri="{FF2B5EF4-FFF2-40B4-BE49-F238E27FC236}">
                <a16:creationId xmlns:a16="http://schemas.microsoft.com/office/drawing/2014/main" id="{C0FAB585-AAC6-4848-82F8-805D881CC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81400"/>
            <a:ext cx="1809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>
                <a:solidFill>
                  <a:srgbClr val="697078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697078"/>
                </a:solidFill>
                <a:latin typeface="Arial"/>
                <a:ea typeface="Arial"/>
                <a:cs typeface="Arial"/>
              </a:rPr>
              <a:t>город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350">
                <a:solidFill>
                  <a:srgbClr val="697078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697078"/>
                </a:solidFill>
                <a:latin typeface="Arial"/>
                <a:ea typeface="Arial"/>
                <a:cs typeface="Arial"/>
              </a:rPr>
              <a:t>класс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350">
                <a:solidFill>
                  <a:srgbClr val="697078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697078"/>
                </a:solidFill>
                <a:latin typeface="Arial"/>
                <a:ea typeface="Arial"/>
                <a:cs typeface="Arial"/>
              </a:rPr>
              <a:t>интересы</a:t>
            </a:r>
          </a:p>
        </p:txBody>
      </p:sp>
      <p:sp>
        <p:nvSpPr>
          <p:cNvPr id="11" name="solution-arrow-0">
            <a:extLst xmlns:a="http://schemas.openxmlformats.org/drawingml/2006/main">
              <a:ext uri="{FF2B5EF4-FFF2-40B4-BE49-F238E27FC236}">
                <a16:creationId xmlns:a16="http://schemas.microsoft.com/office/drawing/2014/main" id="{59030A4C-9653-46E4-AAAA-B8DFC7B57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266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700" b="1">
                <a:solidFill>
                  <a:srgbClr val="2A8EF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2A8EF0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2" name="solution-box-1">
            <a:extLst xmlns:a="http://schemas.openxmlformats.org/drawingml/2006/main">
              <a:ext uri="{FF2B5EF4-FFF2-40B4-BE49-F238E27FC236}">
                <a16:creationId xmlns:a16="http://schemas.microsoft.com/office/drawing/2014/main" id="{6F3A48CD-6EFE-40F0-A7D9-244B2B1D5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76500"/>
            <a:ext cx="2266950" cy="1952625"/>
          </a:xfrm>
          <a:prstGeom xmlns:a="http://schemas.openxmlformats.org/drawingml/2006/main" prst="roundRect">
            <a:avLst>
              <a:gd name="adj" fmla="val 78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E1114">
                <a:alpha val="12000"/>
              </a:srgbClr>
            </a:solidFill>
            <a:prstDash val="solid"/>
          </a:ln>
        </p:spPr>
      </p:sp>
      <p:sp>
        <p:nvSpPr>
          <p:cNvPr id="13" name="solution-num-1">
            <a:extLst xmlns:a="http://schemas.openxmlformats.org/drawingml/2006/main">
              <a:ext uri="{FF2B5EF4-FFF2-40B4-BE49-F238E27FC236}">
                <a16:creationId xmlns:a16="http://schemas.microsoft.com/office/drawing/2014/main" id="{D9DB645A-B4D4-4CB1-8886-827FAADDE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7241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A8EF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A8EF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solution-heading-1">
            <a:extLst xmlns:a="http://schemas.openxmlformats.org/drawingml/2006/main">
              <a:ext uri="{FF2B5EF4-FFF2-40B4-BE49-F238E27FC236}">
                <a16:creationId xmlns:a16="http://schemas.microsoft.com/office/drawing/2014/main" id="{FDE1FDB2-4A60-4512-8E1A-02BF924FF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1242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E111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E1114"/>
                </a:solidFill>
                <a:latin typeface="Arial"/>
                <a:ea typeface="Arial"/>
                <a:cs typeface="Arial"/>
              </a:rPr>
              <a:t>Подбор</a:t>
            </a:r>
          </a:p>
        </p:txBody>
      </p:sp>
      <p:sp>
        <p:nvSpPr>
          <p:cNvPr id="15" name="solution-body-1">
            <a:extLst xmlns:a="http://schemas.openxmlformats.org/drawingml/2006/main">
              <a:ext uri="{FF2B5EF4-FFF2-40B4-BE49-F238E27FC236}">
                <a16:creationId xmlns:a16="http://schemas.microsoft.com/office/drawing/2014/main" id="{A04B0DA1-C75D-41C0-AB35-663274390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581400"/>
            <a:ext cx="1809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>
                <a:solidFill>
                  <a:srgbClr val="697078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697078"/>
                </a:solidFill>
                <a:latin typeface="Arial"/>
                <a:ea typeface="Arial"/>
                <a:cs typeface="Arial"/>
              </a:rPr>
              <a:t>поиск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350">
                <a:solidFill>
                  <a:srgbClr val="697078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697078"/>
                </a:solidFill>
                <a:latin typeface="Arial"/>
                <a:ea typeface="Arial"/>
                <a:cs typeface="Arial"/>
              </a:rPr>
              <a:t>фильтры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350">
                <a:solidFill>
                  <a:srgbClr val="697078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697078"/>
                </a:solidFill>
                <a:latin typeface="Arial"/>
                <a:ea typeface="Arial"/>
                <a:cs typeface="Arial"/>
              </a:rPr>
              <a:t>НЦТ-коды</a:t>
            </a:r>
          </a:p>
        </p:txBody>
      </p:sp>
      <p:sp>
        <p:nvSpPr>
          <p:cNvPr id="16" name="solution-arrow-1">
            <a:extLst xmlns:a="http://schemas.openxmlformats.org/drawingml/2006/main">
              <a:ext uri="{FF2B5EF4-FFF2-40B4-BE49-F238E27FC236}">
                <a16:creationId xmlns:a16="http://schemas.microsoft.com/office/drawing/2014/main" id="{3ABAD2ED-6B01-423E-A55F-30FE98970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124200"/>
            <a:ext cx="266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700" b="1">
                <a:solidFill>
                  <a:srgbClr val="2A8EF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2A8EF0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7" name="solution-box-2">
            <a:extLst xmlns:a="http://schemas.openxmlformats.org/drawingml/2006/main">
              <a:ext uri="{FF2B5EF4-FFF2-40B4-BE49-F238E27FC236}">
                <a16:creationId xmlns:a16="http://schemas.microsoft.com/office/drawing/2014/main" id="{2E389715-DF8A-4026-BCF3-38A92C482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76500"/>
            <a:ext cx="2266950" cy="1952625"/>
          </a:xfrm>
          <a:prstGeom xmlns:a="http://schemas.openxmlformats.org/drawingml/2006/main" prst="roundRect">
            <a:avLst>
              <a:gd name="adj" fmla="val 78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E1114">
                <a:alpha val="12000"/>
              </a:srgbClr>
            </a:solidFill>
            <a:prstDash val="solid"/>
          </a:ln>
        </p:spPr>
      </p:sp>
      <p:sp>
        <p:nvSpPr>
          <p:cNvPr id="18" name="solution-num-2">
            <a:extLst xmlns:a="http://schemas.openxmlformats.org/drawingml/2006/main">
              <a:ext uri="{FF2B5EF4-FFF2-40B4-BE49-F238E27FC236}">
                <a16:creationId xmlns:a16="http://schemas.microsoft.com/office/drawing/2014/main" id="{A34E7D59-5FC6-4004-9E40-6E13E69F1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7241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A8EF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A8EF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solution-heading-2">
            <a:extLst xmlns:a="http://schemas.openxmlformats.org/drawingml/2006/main">
              <a:ext uri="{FF2B5EF4-FFF2-40B4-BE49-F238E27FC236}">
                <a16:creationId xmlns:a16="http://schemas.microsoft.com/office/drawing/2014/main" id="{F581C6EE-5151-401F-B8C4-DB78944BB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1242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E111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E1114"/>
                </a:solidFill>
                <a:latin typeface="Arial"/>
                <a:ea typeface="Arial"/>
                <a:cs typeface="Arial"/>
              </a:rPr>
              <a:t>Объяснение</a:t>
            </a:r>
          </a:p>
        </p:txBody>
      </p:sp>
      <p:sp>
        <p:nvSpPr>
          <p:cNvPr id="20" name="solution-body-2">
            <a:extLst xmlns:a="http://schemas.openxmlformats.org/drawingml/2006/main">
              <a:ext uri="{FF2B5EF4-FFF2-40B4-BE49-F238E27FC236}">
                <a16:creationId xmlns:a16="http://schemas.microsoft.com/office/drawing/2014/main" id="{611AB768-D51E-4FBD-9999-85FCAAA1A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581400"/>
            <a:ext cx="1809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>
                <a:solidFill>
                  <a:srgbClr val="697078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697078"/>
                </a:solidFill>
                <a:latin typeface="Arial"/>
                <a:ea typeface="Arial"/>
                <a:cs typeface="Arial"/>
              </a:rPr>
              <a:t>почему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350">
                <a:solidFill>
                  <a:srgbClr val="697078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697078"/>
                </a:solidFill>
                <a:latin typeface="Arial"/>
                <a:ea typeface="Arial"/>
                <a:cs typeface="Arial"/>
              </a:rPr>
              <a:t>подходит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350">
                <a:solidFill>
                  <a:srgbClr val="697078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697078"/>
                </a:solidFill>
                <a:latin typeface="Arial"/>
                <a:ea typeface="Arial"/>
                <a:cs typeface="Arial"/>
              </a:rPr>
              <a:t>этот вариант</a:t>
            </a:r>
          </a:p>
        </p:txBody>
      </p:sp>
      <p:sp>
        <p:nvSpPr>
          <p:cNvPr id="21" name="solution-arrow-2">
            <a:extLst xmlns:a="http://schemas.openxmlformats.org/drawingml/2006/main">
              <a:ext uri="{FF2B5EF4-FFF2-40B4-BE49-F238E27FC236}">
                <a16:creationId xmlns:a16="http://schemas.microsoft.com/office/drawing/2014/main" id="{F5EB482D-2586-47D6-8055-8B1A47B3A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124200"/>
            <a:ext cx="266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700" b="1">
                <a:solidFill>
                  <a:srgbClr val="2A8EF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2A8EF0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2" name="solution-box-3">
            <a:extLst xmlns:a="http://schemas.openxmlformats.org/drawingml/2006/main">
              <a:ext uri="{FF2B5EF4-FFF2-40B4-BE49-F238E27FC236}">
                <a16:creationId xmlns:a16="http://schemas.microsoft.com/office/drawing/2014/main" id="{4A4ACAD1-5CD0-4B7E-905F-2D99EAB15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476500"/>
            <a:ext cx="2266950" cy="1952625"/>
          </a:xfrm>
          <a:prstGeom xmlns:a="http://schemas.openxmlformats.org/drawingml/2006/main" prst="roundRect">
            <a:avLst>
              <a:gd name="adj" fmla="val 7805"/>
            </a:avLst>
          </a:prstGeom>
          <a:solidFill xmlns:a="http://schemas.openxmlformats.org/drawingml/2006/main">
            <a:srgbClr val="0E1114"/>
          </a:solidFill>
          <a:ln xmlns:a="http://schemas.openxmlformats.org/drawingml/2006/main" w="9525">
            <a:solidFill>
              <a:srgbClr val="0E1114"/>
            </a:solidFill>
            <a:prstDash val="solid"/>
          </a:ln>
        </p:spPr>
      </p:sp>
      <p:sp>
        <p:nvSpPr>
          <p:cNvPr id="23" name="solution-num-3">
            <a:extLst xmlns:a="http://schemas.openxmlformats.org/drawingml/2006/main">
              <a:ext uri="{FF2B5EF4-FFF2-40B4-BE49-F238E27FC236}">
                <a16:creationId xmlns:a16="http://schemas.microsoft.com/office/drawing/2014/main" id="{D0F406E2-FE0C-488D-95DF-E77A83004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7241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79B9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79B9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4" name="solution-heading-3">
            <a:extLst xmlns:a="http://schemas.openxmlformats.org/drawingml/2006/main">
              <a:ext uri="{FF2B5EF4-FFF2-40B4-BE49-F238E27FC236}">
                <a16:creationId xmlns:a16="http://schemas.microsoft.com/office/drawing/2014/main" id="{59E6F889-E2DA-4F63-9C15-F40F03670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1242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5F0E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0E7"/>
                </a:solidFill>
                <a:latin typeface="Arial"/>
                <a:ea typeface="Arial"/>
                <a:cs typeface="Arial"/>
              </a:rPr>
              <a:t>План</a:t>
            </a:r>
          </a:p>
        </p:txBody>
      </p:sp>
      <p:sp>
        <p:nvSpPr>
          <p:cNvPr id="25" name="solution-body-3">
            <a:extLst xmlns:a="http://schemas.openxmlformats.org/drawingml/2006/main">
              <a:ext uri="{FF2B5EF4-FFF2-40B4-BE49-F238E27FC236}">
                <a16:creationId xmlns:a16="http://schemas.microsoft.com/office/drawing/2014/main" id="{3EAF1957-ECA9-43F4-BE5F-C0FC93E64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581400"/>
            <a:ext cx="1809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>
                <a:solidFill>
                  <a:srgbClr val="E9E0D1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E9E0D1"/>
                </a:solidFill>
                <a:latin typeface="Arial"/>
                <a:ea typeface="Arial"/>
                <a:cs typeface="Arial"/>
              </a:rPr>
              <a:t>интервью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350">
                <a:solidFill>
                  <a:srgbClr val="E9E0D1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E9E0D1"/>
                </a:solidFill>
                <a:latin typeface="Arial"/>
                <a:ea typeface="Arial"/>
                <a:cs typeface="Arial"/>
              </a:rPr>
              <a:t>цель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350">
                <a:solidFill>
                  <a:srgbClr val="E9E0D1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E9E0D1"/>
                </a:solidFill>
                <a:latin typeface="Arial"/>
                <a:ea typeface="Arial"/>
                <a:cs typeface="Arial"/>
              </a:rPr>
              <a:t>Coach</a:t>
            </a:r>
          </a:p>
        </p:txBody>
      </p:sp>
      <p:sp>
        <p:nvSpPr>
          <p:cNvPr id="26" name="solution-bottom">
            <a:extLst xmlns:a="http://schemas.openxmlformats.org/drawingml/2006/main">
              <a:ext uri="{FF2B5EF4-FFF2-40B4-BE49-F238E27FC236}">
                <a16:creationId xmlns:a16="http://schemas.microsoft.com/office/drawing/2014/main" id="{9E7AE49D-C173-4EE2-A14C-8D9CD4E93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10210800" cy="7239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E1114"/>
          </a:solidFill>
          <a:ln xmlns:a="http://schemas.openxmlformats.org/drawingml/2006/main" w="0">
            <a:solidFill>
              <a:srgbClr val="0E1114"/>
            </a:solidFill>
            <a:prstDash val="solid"/>
          </a:ln>
        </p:spPr>
      </p:sp>
      <p:sp>
        <p:nvSpPr>
          <p:cNvPr id="27" name="solution-bottom-text">
            <a:extLst xmlns:a="http://schemas.openxmlformats.org/drawingml/2006/main">
              <a:ext uri="{FF2B5EF4-FFF2-40B4-BE49-F238E27FC236}">
                <a16:creationId xmlns:a16="http://schemas.microsoft.com/office/drawing/2014/main" id="{10196767-924C-4637-8AF2-A21AE2E59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48250"/>
            <a:ext cx="9677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>
                <a:solidFill>
                  <a:srgbClr val="F5F0E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0E7"/>
                </a:solidFill>
                <a:latin typeface="Arial"/>
                <a:ea typeface="Arial"/>
                <a:cs typeface="Arial"/>
              </a:rPr>
              <a:t>Navigator не заменяет выбор — он делает его обоснованным.</a:t>
            </a:r>
          </a:p>
        </p:txBody>
      </p:sp>
    </p:spTree>
    <p:extLst>
      <p:ext uri="{BB962C8B-B14F-4D97-AF65-F5344CB8AC3E}">
        <p14:creationId xmlns:p14="http://schemas.microsoft.com/office/powerpoint/2010/main" val="902318783"/>
      </p:ext>
    </p:extLst>
  </p:cSld>
</p:sld>
</file>

<file path=ppt/slides/slide4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F1317"/>
            </a:gs>
            <a:gs pos="72000">
              <a:srgbClr val="171B21"/>
            </a:gs>
            <a:gs pos="100000">
              <a:srgbClr val="241F18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chrome-label-4">
            <a:extLst xmlns:a="http://schemas.openxmlformats.org/drawingml/2006/main">
              <a:ext uri="{FF2B5EF4-FFF2-40B4-BE49-F238E27FC236}">
                <a16:creationId xmlns:a16="http://schemas.microsoft.com/office/drawing/2014/main" id="{70E07F60-D97C-4E50-8783-6A6BC1412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9AA0A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9AA0A5"/>
                </a:solidFill>
                <a:latin typeface="Arial"/>
                <a:ea typeface="Arial"/>
                <a:cs typeface="Arial"/>
              </a:rPr>
              <a:t>NCT NAVIGATOR</a:t>
            </a:r>
          </a:p>
        </p:txBody>
      </p:sp>
      <p:sp>
        <p:nvSpPr>
          <p:cNvPr id="2" name="chrome-number-4">
            <a:extLst xmlns:a="http://schemas.openxmlformats.org/drawingml/2006/main">
              <a:ext uri="{FF2B5EF4-FFF2-40B4-BE49-F238E27FC236}">
                <a16:creationId xmlns:a16="http://schemas.microsoft.com/office/drawing/2014/main" id="{89A9DEAA-B627-45FF-BBFC-2A095E585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362700"/>
            <a:ext cx="99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E9E0D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9E0D1"/>
                </a:solidFill>
                <a:latin typeface="Arial"/>
                <a:ea typeface="Arial"/>
                <a:cs typeface="Arial"/>
              </a:rPr>
              <a:t>04 / 07</a:t>
            </a:r>
          </a:p>
        </p:txBody>
      </p:sp>
      <p:sp>
        <p:nvSpPr>
          <p:cNvPr id="3" name="chrome-rule-4">
            <a:extLst xmlns:a="http://schemas.openxmlformats.org/drawingml/2006/main">
              <a:ext uri="{FF2B5EF4-FFF2-40B4-BE49-F238E27FC236}">
                <a16:creationId xmlns:a16="http://schemas.microsoft.com/office/drawing/2014/main" id="{54017775-DD36-47CA-BAF1-915393E03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kicker-НЦТ-данные превращаются в понятный продукт">
            <a:extLst xmlns:a="http://schemas.openxmlformats.org/drawingml/2006/main">
              <a:ext uri="{FF2B5EF4-FFF2-40B4-BE49-F238E27FC236}">
                <a16:creationId xmlns:a16="http://schemas.microsoft.com/office/drawing/2014/main" id="{A45B695D-F3CD-4E40-ABB5-C570AFCC3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D5BC9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D5BC95"/>
                </a:solidFill>
                <a:latin typeface="Arial"/>
                <a:ea typeface="Arial"/>
                <a:cs typeface="Arial"/>
              </a:rPr>
              <a:t>ОПИСАНИЕ ПРОЕКТА</a:t>
            </a:r>
          </a:p>
        </p:txBody>
      </p:sp>
      <p:sp>
        <p:nvSpPr>
          <p:cNvPr id="5" name="title-НЦТ-данные превращаются в понятный продукт">
            <a:extLst xmlns:a="http://schemas.openxmlformats.org/drawingml/2006/main">
              <a:ext uri="{FF2B5EF4-FFF2-40B4-BE49-F238E27FC236}">
                <a16:creationId xmlns:a16="http://schemas.microsoft.com/office/drawing/2014/main" id="{DD8002F1-3736-4864-9B03-5E19B2F62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000" b="1">
                <a:solidFill>
                  <a:srgbClr val="F5F0E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5F0E7"/>
                </a:solidFill>
                <a:latin typeface="Arial"/>
                <a:ea typeface="Arial"/>
                <a:cs typeface="Arial"/>
              </a:rPr>
              <a:t>НЦТ-данные превращаются в понятный продукт</a:t>
            </a:r>
          </a:p>
        </p:txBody>
      </p:sp>
      <p:sp>
        <p:nvSpPr>
          <p:cNvPr id="6" name="description-lead">
            <a:extLst xmlns:a="http://schemas.openxmlformats.org/drawingml/2006/main">
              <a:ext uri="{FF2B5EF4-FFF2-40B4-BE49-F238E27FC236}">
                <a16:creationId xmlns:a16="http://schemas.microsoft.com/office/drawing/2014/main" id="{7452267B-0BBC-4435-9B64-CCC747CA1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>
                <a:solidFill>
                  <a:srgbClr val="E9E0D1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E9E0D1"/>
                </a:solidFill>
                <a:latin typeface="Arial"/>
                <a:ea typeface="Arial"/>
                <a:cs typeface="Arial"/>
              </a:rPr>
              <a:t>Navigator соединяет НЦТ Core, персональные фильтры и маршрут поступления — в одном интерфейсе.</a:t>
            </a:r>
          </a:p>
        </p:txBody>
      </p:sp>
      <p:sp>
        <p:nvSpPr>
          <p:cNvPr id="7" name="description-metric-band">
            <a:extLst xmlns:a="http://schemas.openxmlformats.org/drawingml/2006/main">
              <a:ext uri="{FF2B5EF4-FFF2-40B4-BE49-F238E27FC236}">
                <a16:creationId xmlns:a16="http://schemas.microsoft.com/office/drawing/2014/main" id="{1E83F354-B0C5-4808-8E0C-861F20E95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0210800" cy="14478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9525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8" name="description-metric-value">
            <a:extLst xmlns:a="http://schemas.openxmlformats.org/drawingml/2006/main">
              <a:ext uri="{FF2B5EF4-FFF2-40B4-BE49-F238E27FC236}">
                <a16:creationId xmlns:a16="http://schemas.microsoft.com/office/drawing/2014/main" id="{9D60CC11-F821-480F-8215-F671869D0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24150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350" b="1">
                <a:solidFill>
                  <a:srgbClr val="79B9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79B9FF"/>
                </a:solidFill>
                <a:latin typeface="Arial"/>
                <a:ea typeface="Arial"/>
                <a:cs typeface="Arial"/>
              </a:rPr>
              <a:t>1 389</a:t>
            </a:r>
          </a:p>
        </p:txBody>
      </p:sp>
      <p:sp>
        <p:nvSpPr>
          <p:cNvPr id="9" name="description-metric-label">
            <a:extLst xmlns:a="http://schemas.openxmlformats.org/drawingml/2006/main">
              <a:ext uri="{FF2B5EF4-FFF2-40B4-BE49-F238E27FC236}">
                <a16:creationId xmlns:a16="http://schemas.microsoft.com/office/drawing/2014/main" id="{EE5BFFB9-60B8-40F6-9EC3-B390BB4C5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71850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425">
                <a:solidFill>
                  <a:srgbClr val="E9E0D1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E9E0D1"/>
                </a:solidFill>
                <a:latin typeface="Arial"/>
                <a:ea typeface="Arial"/>
                <a:cs typeface="Arial"/>
              </a:rPr>
              <a:t>опубликованных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425">
                <a:solidFill>
                  <a:srgbClr val="E9E0D1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E9E0D1"/>
                </a:solidFill>
                <a:latin typeface="Arial"/>
                <a:ea typeface="Arial"/>
                <a:cs typeface="Arial"/>
              </a:rPr>
              <a:t>предложений</a:t>
            </a:r>
          </a:p>
        </p:txBody>
      </p:sp>
      <p:sp>
        <p:nvSpPr>
          <p:cNvPr id="10" name="description-metric-divider-1">
            <a:extLst xmlns:a="http://schemas.openxmlformats.org/drawingml/2006/main">
              <a:ext uri="{FF2B5EF4-FFF2-40B4-BE49-F238E27FC236}">
                <a16:creationId xmlns:a16="http://schemas.microsoft.com/office/drawing/2014/main" id="{8461A30A-D91A-48A4-AC80-EEB784C60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686050"/>
            <a:ext cx="95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description-metric-2">
            <a:extLst xmlns:a="http://schemas.openxmlformats.org/drawingml/2006/main">
              <a:ext uri="{FF2B5EF4-FFF2-40B4-BE49-F238E27FC236}">
                <a16:creationId xmlns:a16="http://schemas.microsoft.com/office/drawing/2014/main" id="{991E5110-0555-41D3-88DE-0E876E2CD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781300"/>
            <a:ext cx="876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450" b="1">
                <a:solidFill>
                  <a:srgbClr val="D5BC95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D5BC95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description-metric-2-label">
            <a:extLst xmlns:a="http://schemas.openxmlformats.org/drawingml/2006/main">
              <a:ext uri="{FF2B5EF4-FFF2-40B4-BE49-F238E27FC236}">
                <a16:creationId xmlns:a16="http://schemas.microsoft.com/office/drawing/2014/main" id="{0D060825-1479-4062-8549-3E601E90C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3718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>
                <a:solidFill>
                  <a:srgbClr val="E9E0D1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E9E0D1"/>
                </a:solidFill>
                <a:latin typeface="Arial"/>
                <a:ea typeface="Arial"/>
                <a:cs typeface="Arial"/>
              </a:rPr>
              <a:t>релиза данных</a:t>
            </a:r>
          </a:p>
        </p:txBody>
      </p:sp>
      <p:sp>
        <p:nvSpPr>
          <p:cNvPr id="13" name="description-metric-divider-2">
            <a:extLst xmlns:a="http://schemas.openxmlformats.org/drawingml/2006/main">
              <a:ext uri="{FF2B5EF4-FFF2-40B4-BE49-F238E27FC236}">
                <a16:creationId xmlns:a16="http://schemas.microsoft.com/office/drawing/2014/main" id="{CEC454BF-A139-4C17-A784-4CEE786D5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86050"/>
            <a:ext cx="95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description-metric-3">
            <a:extLst xmlns:a="http://schemas.openxmlformats.org/drawingml/2006/main">
              <a:ext uri="{FF2B5EF4-FFF2-40B4-BE49-F238E27FC236}">
                <a16:creationId xmlns:a16="http://schemas.microsoft.com/office/drawing/2014/main" id="{7D334A3B-D6A4-4DED-9379-6E1FCBD66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78130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450" b="1">
                <a:solidFill>
                  <a:srgbClr val="D5BC95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D5BC95"/>
                </a:solidFill>
                <a:latin typeface="Arial"/>
                <a:ea typeface="Arial"/>
                <a:cs typeface="Arial"/>
              </a:rPr>
              <a:t>140</a:t>
            </a:r>
          </a:p>
        </p:txBody>
      </p:sp>
      <p:sp>
        <p:nvSpPr>
          <p:cNvPr id="15" name="description-metric-3-label">
            <a:extLst xmlns:a="http://schemas.openxmlformats.org/drawingml/2006/main">
              <a:ext uri="{FF2B5EF4-FFF2-40B4-BE49-F238E27FC236}">
                <a16:creationId xmlns:a16="http://schemas.microsoft.com/office/drawing/2014/main" id="{5B5BDC06-23E7-49A4-9C32-698D09C3C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7185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425">
                <a:solidFill>
                  <a:srgbClr val="E9E0D1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E9E0D1"/>
                </a:solidFill>
                <a:latin typeface="Arial"/>
                <a:ea typeface="Arial"/>
                <a:cs typeface="Arial"/>
              </a:rPr>
              <a:t>строк оставлены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425">
                <a:solidFill>
                  <a:srgbClr val="E9E0D1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E9E0D1"/>
                </a:solidFill>
                <a:latin typeface="Arial"/>
                <a:ea typeface="Arial"/>
                <a:cs typeface="Arial"/>
              </a:rPr>
              <a:t>на ручную проверку</a:t>
            </a:r>
          </a:p>
        </p:txBody>
      </p:sp>
      <p:sp>
        <p:nvSpPr>
          <p:cNvPr id="16" name="description-metric-date">
            <a:extLst xmlns:a="http://schemas.openxmlformats.org/drawingml/2006/main">
              <a:ext uri="{FF2B5EF4-FFF2-40B4-BE49-F238E27FC236}">
                <a16:creationId xmlns:a16="http://schemas.microsoft.com/office/drawing/2014/main" id="{96A7E9DD-24DF-415C-ADFF-4C802924F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448050"/>
            <a:ext cx="1066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>
                <a:solidFill>
                  <a:srgbClr val="9AA0A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9AA0A5"/>
                </a:solidFill>
                <a:latin typeface="Arial"/>
                <a:ea typeface="Arial"/>
                <a:cs typeface="Arial"/>
              </a:rPr>
              <a:t>локальный release · 15.07.2026</a:t>
            </a:r>
          </a:p>
        </p:txBody>
      </p:sp>
      <p:sp>
        <p:nvSpPr>
          <p:cNvPr id="17" name="description-dot-0">
            <a:extLst xmlns:a="http://schemas.openxmlformats.org/drawingml/2006/main">
              <a:ext uri="{FF2B5EF4-FFF2-40B4-BE49-F238E27FC236}">
                <a16:creationId xmlns:a16="http://schemas.microsoft.com/office/drawing/2014/main" id="{2474310B-67B8-40FD-9B47-977CFF03F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529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8E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description-feature-heading-0">
            <a:extLst xmlns:a="http://schemas.openxmlformats.org/drawingml/2006/main">
              <a:ext uri="{FF2B5EF4-FFF2-40B4-BE49-F238E27FC236}">
                <a16:creationId xmlns:a16="http://schemas.microsoft.com/office/drawing/2014/main" id="{B7F99689-63A8-41CB-A39D-983B44987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386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F5F0E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F0E7"/>
                </a:solidFill>
                <a:latin typeface="Arial"/>
                <a:ea typeface="Arial"/>
                <a:cs typeface="Arial"/>
              </a:rPr>
              <a:t>Ищет</a:t>
            </a:r>
          </a:p>
        </p:txBody>
      </p:sp>
      <p:sp>
        <p:nvSpPr>
          <p:cNvPr id="19" name="description-feature-body-0">
            <a:extLst xmlns:a="http://schemas.openxmlformats.org/drawingml/2006/main">
              <a:ext uri="{FF2B5EF4-FFF2-40B4-BE49-F238E27FC236}">
                <a16:creationId xmlns:a16="http://schemas.microsoft.com/office/drawing/2014/main" id="{E9BBE5D8-81E8-4D6E-9A8D-21283BEC7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819650"/>
            <a:ext cx="2743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>
                <a:solidFill>
                  <a:srgbClr val="E9E0D1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E9E0D1"/>
                </a:solidFill>
                <a:latin typeface="Arial"/>
                <a:ea typeface="Arial"/>
                <a:cs typeface="Arial"/>
              </a:rPr>
              <a:t>по коду, специальности, вузу, городу и ключевым словам</a:t>
            </a:r>
          </a:p>
        </p:txBody>
      </p:sp>
      <p:sp>
        <p:nvSpPr>
          <p:cNvPr id="20" name="description-dot-1">
            <a:extLst xmlns:a="http://schemas.openxmlformats.org/drawingml/2006/main">
              <a:ext uri="{FF2B5EF4-FFF2-40B4-BE49-F238E27FC236}">
                <a16:creationId xmlns:a16="http://schemas.microsoft.com/office/drawing/2014/main" id="{D300A91C-844B-47AE-A47C-151FE9AED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5529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BC9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description-feature-heading-1">
            <a:extLst xmlns:a="http://schemas.openxmlformats.org/drawingml/2006/main">
              <a:ext uri="{FF2B5EF4-FFF2-40B4-BE49-F238E27FC236}">
                <a16:creationId xmlns:a16="http://schemas.microsoft.com/office/drawing/2014/main" id="{65FD0174-E16C-4DE9-99DC-4823464BA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4386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F5F0E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F0E7"/>
                </a:solidFill>
                <a:latin typeface="Arial"/>
                <a:ea typeface="Arial"/>
                <a:cs typeface="Arial"/>
              </a:rPr>
              <a:t>Фильтрует</a:t>
            </a:r>
          </a:p>
        </p:txBody>
      </p:sp>
      <p:sp>
        <p:nvSpPr>
          <p:cNvPr id="22" name="description-feature-body-1">
            <a:extLst xmlns:a="http://schemas.openxmlformats.org/drawingml/2006/main">
              <a:ext uri="{FF2B5EF4-FFF2-40B4-BE49-F238E27FC236}">
                <a16:creationId xmlns:a16="http://schemas.microsoft.com/office/drawing/2014/main" id="{25FDD6D1-53E6-428B-A98C-C84E34E9C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819650"/>
            <a:ext cx="2743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>
                <a:solidFill>
                  <a:srgbClr val="E9E0D1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E9E0D1"/>
                </a:solidFill>
                <a:latin typeface="Arial"/>
                <a:ea typeface="Arial"/>
                <a:cs typeface="Arial"/>
              </a:rPr>
              <a:t>по уровню, форме обучения, оплате и языку</a:t>
            </a:r>
          </a:p>
        </p:txBody>
      </p:sp>
      <p:sp>
        <p:nvSpPr>
          <p:cNvPr id="23" name="description-dot-2">
            <a:extLst xmlns:a="http://schemas.openxmlformats.org/drawingml/2006/main">
              <a:ext uri="{FF2B5EF4-FFF2-40B4-BE49-F238E27FC236}">
                <a16:creationId xmlns:a16="http://schemas.microsoft.com/office/drawing/2014/main" id="{5E9F3F52-FECE-4496-BD38-DF15612CD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5529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8E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description-feature-heading-2">
            <a:extLst xmlns:a="http://schemas.openxmlformats.org/drawingml/2006/main">
              <a:ext uri="{FF2B5EF4-FFF2-40B4-BE49-F238E27FC236}">
                <a16:creationId xmlns:a16="http://schemas.microsoft.com/office/drawing/2014/main" id="{3FBFA956-6495-4CEA-91E5-2C4B21891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4386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F5F0E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F0E7"/>
                </a:solidFill>
                <a:latin typeface="Arial"/>
                <a:ea typeface="Arial"/>
                <a:cs typeface="Arial"/>
              </a:rPr>
              <a:t>Ведёт дальше</a:t>
            </a:r>
          </a:p>
        </p:txBody>
      </p:sp>
      <p:sp>
        <p:nvSpPr>
          <p:cNvPr id="25" name="description-feature-body-2">
            <a:extLst xmlns:a="http://schemas.openxmlformats.org/drawingml/2006/main">
              <a:ext uri="{FF2B5EF4-FFF2-40B4-BE49-F238E27FC236}">
                <a16:creationId xmlns:a16="http://schemas.microsoft.com/office/drawing/2014/main" id="{7D0555D0-D8FD-4680-9DC5-26935831F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819650"/>
            <a:ext cx="2743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>
                <a:solidFill>
                  <a:srgbClr val="E9E0D1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E9E0D1"/>
                </a:solidFill>
                <a:latin typeface="Arial"/>
                <a:ea typeface="Arial"/>
                <a:cs typeface="Arial"/>
              </a:rPr>
              <a:t>от результата к источнику, цели, интервью и плану</a:t>
            </a:r>
          </a:p>
        </p:txBody>
      </p:sp>
    </p:spTree>
    <p:extLst>
      <p:ext uri="{BB962C8B-B14F-4D97-AF65-F5344CB8AC3E}">
        <p14:creationId xmlns:p14="http://schemas.microsoft.com/office/powerpoint/2010/main" val="1635665335"/>
      </p:ext>
    </p:extLst>
  </p:cSld>
</p:sld>
</file>

<file path=ppt/slides/slide5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E1114"/>
            </a:gs>
            <a:gs pos="66000">
              <a:srgbClr val="151A20"/>
            </a:gs>
            <a:gs pos="100000">
              <a:srgbClr val="211C17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chrome-label-5">
            <a:extLst xmlns:a="http://schemas.openxmlformats.org/drawingml/2006/main">
              <a:ext uri="{FF2B5EF4-FFF2-40B4-BE49-F238E27FC236}">
                <a16:creationId xmlns:a16="http://schemas.microsoft.com/office/drawing/2014/main" id="{6354A7D3-8373-4781-879A-8A3C7583D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9AA0A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9AA0A5"/>
                </a:solidFill>
                <a:latin typeface="Arial"/>
                <a:ea typeface="Arial"/>
                <a:cs typeface="Arial"/>
              </a:rPr>
              <a:t>NCT NAVIGATOR</a:t>
            </a:r>
          </a:p>
        </p:txBody>
      </p:sp>
      <p:sp>
        <p:nvSpPr>
          <p:cNvPr id="2" name="chrome-number-5">
            <a:extLst xmlns:a="http://schemas.openxmlformats.org/drawingml/2006/main">
              <a:ext uri="{FF2B5EF4-FFF2-40B4-BE49-F238E27FC236}">
                <a16:creationId xmlns:a16="http://schemas.microsoft.com/office/drawing/2014/main" id="{1D8F15AA-24BF-4048-8E4E-E4184ABEB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362700"/>
            <a:ext cx="99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E9E0D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9E0D1"/>
                </a:solidFill>
                <a:latin typeface="Arial"/>
                <a:ea typeface="Arial"/>
                <a:cs typeface="Arial"/>
              </a:rPr>
              <a:t>05 / 07</a:t>
            </a:r>
          </a:p>
        </p:txBody>
      </p:sp>
      <p:sp>
        <p:nvSpPr>
          <p:cNvPr id="3" name="chrome-rule-5">
            <a:extLst xmlns:a="http://schemas.openxmlformats.org/drawingml/2006/main">
              <a:ext uri="{FF2B5EF4-FFF2-40B4-BE49-F238E27FC236}">
                <a16:creationId xmlns:a16="http://schemas.microsoft.com/office/drawing/2014/main" id="{9BC8EC35-2494-49E9-9DDC-A10275C38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kicker-База ограничивает, AI объясняет">
            <a:extLst xmlns:a="http://schemas.openxmlformats.org/drawingml/2006/main">
              <a:ext uri="{FF2B5EF4-FFF2-40B4-BE49-F238E27FC236}">
                <a16:creationId xmlns:a16="http://schemas.microsoft.com/office/drawing/2014/main" id="{48C3FDC7-EF6B-470B-BFBF-A7D6BF02F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D5BC9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D5BC95"/>
                </a:solidFill>
                <a:latin typeface="Arial"/>
                <a:ea typeface="Arial"/>
                <a:cs typeface="Arial"/>
              </a:rPr>
              <a:t>АРХИТЕКТУРА ПРОЕКТА</a:t>
            </a:r>
          </a:p>
        </p:txBody>
      </p:sp>
      <p:sp>
        <p:nvSpPr>
          <p:cNvPr id="5" name="title-База ограничивает, AI объясняет">
            <a:extLst xmlns:a="http://schemas.openxmlformats.org/drawingml/2006/main">
              <a:ext uri="{FF2B5EF4-FFF2-40B4-BE49-F238E27FC236}">
                <a16:creationId xmlns:a16="http://schemas.microsoft.com/office/drawing/2014/main" id="{40A34E0F-D905-473B-892B-E90476611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8763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000" b="1">
                <a:solidFill>
                  <a:srgbClr val="F5F0E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5F0E7"/>
                </a:solidFill>
                <a:latin typeface="Arial"/>
                <a:ea typeface="Arial"/>
                <a:cs typeface="Arial"/>
              </a:rPr>
              <a:t>База ограничивает, AI объясняет</a:t>
            </a:r>
          </a:p>
        </p:txBody>
      </p:sp>
      <p:sp>
        <p:nvSpPr>
          <p:cNvPr id="6" name="architecture-sub">
            <a:extLst xmlns:a="http://schemas.openxmlformats.org/drawingml/2006/main">
              <a:ext uri="{FF2B5EF4-FFF2-40B4-BE49-F238E27FC236}">
                <a16:creationId xmlns:a16="http://schemas.microsoft.com/office/drawing/2014/main" id="{4EC9DE95-A18F-4087-A1C2-FAD047D90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971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>
                <a:solidFill>
                  <a:srgbClr val="E9E0D1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E9E0D1"/>
                </a:solidFill>
                <a:latin typeface="Arial"/>
                <a:ea typeface="Arial"/>
                <a:cs typeface="Arial"/>
              </a:rPr>
              <a:t>Критический принцип: модель не придумывает новые коды — она работает только поверх проверенного shortlist.</a:t>
            </a:r>
          </a:p>
        </p:txBody>
      </p:sp>
      <p:sp>
        <p:nvSpPr>
          <p:cNvPr id="7" name="architecture-box-0">
            <a:extLst xmlns:a="http://schemas.openxmlformats.org/drawingml/2006/main">
              <a:ext uri="{FF2B5EF4-FFF2-40B4-BE49-F238E27FC236}">
                <a16:creationId xmlns:a16="http://schemas.microsoft.com/office/drawing/2014/main" id="{B1C2C501-292B-44CB-ACEC-E2BB3610A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1828800" cy="20193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20242B"/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8" name="architecture-accent-0">
            <a:extLst xmlns:a="http://schemas.openxmlformats.org/drawingml/2006/main">
              <a:ext uri="{FF2B5EF4-FFF2-40B4-BE49-F238E27FC236}">
                <a16:creationId xmlns:a16="http://schemas.microsoft.com/office/drawing/2014/main" id="{E1E56C7E-5604-4BFF-8D35-4A091BBFE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38450"/>
            <a:ext cx="495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B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architecture-heading-0">
            <a:extLst xmlns:a="http://schemas.openxmlformats.org/drawingml/2006/main">
              <a:ext uri="{FF2B5EF4-FFF2-40B4-BE49-F238E27FC236}">
                <a16:creationId xmlns:a16="http://schemas.microsoft.com/office/drawing/2014/main" id="{DFD3F3DC-AA70-49B7-807B-39FB1133C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67050"/>
            <a:ext cx="140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F5F0E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F0E7"/>
                </a:solidFill>
                <a:latin typeface="Arial"/>
                <a:ea typeface="Arial"/>
                <a:cs typeface="Arial"/>
              </a:rPr>
              <a:t>Интерфейс</a:t>
            </a:r>
          </a:p>
        </p:txBody>
      </p:sp>
      <p:sp>
        <p:nvSpPr>
          <p:cNvPr id="10" name="architecture-body-0">
            <a:extLst xmlns:a="http://schemas.openxmlformats.org/drawingml/2006/main">
              <a:ext uri="{FF2B5EF4-FFF2-40B4-BE49-F238E27FC236}">
                <a16:creationId xmlns:a16="http://schemas.microsoft.com/office/drawing/2014/main" id="{C9BDC36E-92A6-4604-A6D9-B6431C0E3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24250"/>
            <a:ext cx="1409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>
                <a:solidFill>
                  <a:srgbClr val="E9E0D1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E9E0D1"/>
                </a:solidFill>
                <a:latin typeface="Arial"/>
                <a:ea typeface="Arial"/>
                <a:cs typeface="Arial"/>
              </a:rPr>
              <a:t>Next.js + React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>
                <a:solidFill>
                  <a:srgbClr val="E9E0D1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E9E0D1"/>
                </a:solidFill>
                <a:latin typeface="Arial"/>
                <a:ea typeface="Arial"/>
                <a:cs typeface="Arial"/>
              </a:rPr>
              <a:t>Zustand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>
                <a:solidFill>
                  <a:srgbClr val="E9E0D1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E9E0D1"/>
                </a:solidFill>
                <a:latin typeface="Arial"/>
                <a:ea typeface="Arial"/>
                <a:cs typeface="Arial"/>
              </a:rPr>
              <a:t>профиль и фильтры</a:t>
            </a:r>
          </a:p>
        </p:txBody>
      </p:sp>
      <p:sp>
        <p:nvSpPr>
          <p:cNvPr id="11" name="architecture-arrow-0">
            <a:extLst xmlns:a="http://schemas.openxmlformats.org/drawingml/2006/main">
              <a:ext uri="{FF2B5EF4-FFF2-40B4-BE49-F238E27FC236}">
                <a16:creationId xmlns:a16="http://schemas.microsoft.com/office/drawing/2014/main" id="{67A3AC9A-5526-45BD-8F12-7D914B0D9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371850"/>
            <a:ext cx="247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250" b="1">
                <a:solidFill>
                  <a:srgbClr val="2A8EF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A8EF0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2" name="architecture-box-1">
            <a:extLst xmlns:a="http://schemas.openxmlformats.org/drawingml/2006/main">
              <a:ext uri="{FF2B5EF4-FFF2-40B4-BE49-F238E27FC236}">
                <a16:creationId xmlns:a16="http://schemas.microsoft.com/office/drawing/2014/main" id="{CACFB496-5931-4917-A343-E0C3C9A53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2609850"/>
            <a:ext cx="1828800" cy="20193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25221F"/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3" name="architecture-accent-1">
            <a:extLst xmlns:a="http://schemas.openxmlformats.org/drawingml/2006/main">
              <a:ext uri="{FF2B5EF4-FFF2-40B4-BE49-F238E27FC236}">
                <a16:creationId xmlns:a16="http://schemas.microsoft.com/office/drawing/2014/main" id="{45F62D09-1A67-4D44-8B90-7995B67D1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2838450"/>
            <a:ext cx="495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BC9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architecture-heading-1">
            <a:extLst xmlns:a="http://schemas.openxmlformats.org/drawingml/2006/main">
              <a:ext uri="{FF2B5EF4-FFF2-40B4-BE49-F238E27FC236}">
                <a16:creationId xmlns:a16="http://schemas.microsoft.com/office/drawing/2014/main" id="{6583C99B-2CD8-4865-9E01-1A43EA030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3067050"/>
            <a:ext cx="140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F5F0E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F0E7"/>
                </a:solidFill>
                <a:latin typeface="Arial"/>
                <a:ea typeface="Arial"/>
                <a:cs typeface="Arial"/>
              </a:rPr>
              <a:t>Сервис</a:t>
            </a:r>
          </a:p>
        </p:txBody>
      </p:sp>
      <p:sp>
        <p:nvSpPr>
          <p:cNvPr id="15" name="architecture-body-1">
            <a:extLst xmlns:a="http://schemas.openxmlformats.org/drawingml/2006/main">
              <a:ext uri="{FF2B5EF4-FFF2-40B4-BE49-F238E27FC236}">
                <a16:creationId xmlns:a16="http://schemas.microsoft.com/office/drawing/2014/main" id="{5265CAD7-B31A-4A64-8713-7773AD28E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3524250"/>
            <a:ext cx="1409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>
                <a:solidFill>
                  <a:srgbClr val="E9E0D1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E9E0D1"/>
                </a:solidFill>
                <a:latin typeface="Arial"/>
                <a:ea typeface="Arial"/>
                <a:cs typeface="Arial"/>
              </a:rPr>
              <a:t>POST /api/reco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>
                <a:solidFill>
                  <a:srgbClr val="E9E0D1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E9E0D1"/>
                </a:solidFill>
                <a:latin typeface="Arial"/>
                <a:ea typeface="Arial"/>
                <a:cs typeface="Arial"/>
              </a:rPr>
              <a:t>Zod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>
                <a:solidFill>
                  <a:srgbClr val="E9E0D1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E9E0D1"/>
                </a:solidFill>
                <a:latin typeface="Arial"/>
                <a:ea typeface="Arial"/>
                <a:cs typeface="Arial"/>
              </a:rPr>
              <a:t>local service</a:t>
            </a:r>
          </a:p>
        </p:txBody>
      </p:sp>
      <p:sp>
        <p:nvSpPr>
          <p:cNvPr id="16" name="architecture-arrow-1">
            <a:extLst xmlns:a="http://schemas.openxmlformats.org/drawingml/2006/main">
              <a:ext uri="{FF2B5EF4-FFF2-40B4-BE49-F238E27FC236}">
                <a16:creationId xmlns:a16="http://schemas.microsoft.com/office/drawing/2014/main" id="{AEC526E5-4099-49F8-A0E3-AE3684E53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371850"/>
            <a:ext cx="247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250" b="1">
                <a:solidFill>
                  <a:srgbClr val="2A8EF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A8EF0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7" name="architecture-box-2">
            <a:extLst xmlns:a="http://schemas.openxmlformats.org/drawingml/2006/main">
              <a:ext uri="{FF2B5EF4-FFF2-40B4-BE49-F238E27FC236}">
                <a16:creationId xmlns:a16="http://schemas.microsoft.com/office/drawing/2014/main" id="{8BC06EA0-2FDE-44E3-8993-203EE23B2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609850"/>
            <a:ext cx="1828800" cy="20193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20242B"/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8" name="architecture-accent-2">
            <a:extLst xmlns:a="http://schemas.openxmlformats.org/drawingml/2006/main">
              <a:ext uri="{FF2B5EF4-FFF2-40B4-BE49-F238E27FC236}">
                <a16:creationId xmlns:a16="http://schemas.microsoft.com/office/drawing/2014/main" id="{430FCF3E-FB78-4B57-BD87-F35204641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838450"/>
            <a:ext cx="495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B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architecture-heading-2">
            <a:extLst xmlns:a="http://schemas.openxmlformats.org/drawingml/2006/main">
              <a:ext uri="{FF2B5EF4-FFF2-40B4-BE49-F238E27FC236}">
                <a16:creationId xmlns:a16="http://schemas.microsoft.com/office/drawing/2014/main" id="{E6771E16-514C-4EF0-B3E3-349EE168E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067050"/>
            <a:ext cx="140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F5F0E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F0E7"/>
                </a:solidFill>
                <a:latin typeface="Arial"/>
                <a:ea typeface="Arial"/>
                <a:cs typeface="Arial"/>
              </a:rPr>
              <a:t>NCT Core</a:t>
            </a:r>
          </a:p>
        </p:txBody>
      </p:sp>
      <p:sp>
        <p:nvSpPr>
          <p:cNvPr id="20" name="architecture-body-2">
            <a:extLst xmlns:a="http://schemas.openxmlformats.org/drawingml/2006/main">
              <a:ext uri="{FF2B5EF4-FFF2-40B4-BE49-F238E27FC236}">
                <a16:creationId xmlns:a16="http://schemas.microsoft.com/office/drawing/2014/main" id="{EBE1AEE5-F334-4A0A-9FAD-131A980F7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524250"/>
            <a:ext cx="1409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>
                <a:solidFill>
                  <a:srgbClr val="E9E0D1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E9E0D1"/>
                </a:solidFill>
                <a:latin typeface="Arial"/>
                <a:ea typeface="Arial"/>
                <a:cs typeface="Arial"/>
              </a:rPr>
              <a:t>published JSON/CSV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>
                <a:solidFill>
                  <a:srgbClr val="E9E0D1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E9E0D1"/>
                </a:solidFill>
                <a:latin typeface="Arial"/>
                <a:ea typeface="Arial"/>
                <a:cs typeface="Arial"/>
              </a:rPr>
              <a:t>Search index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>
                <a:solidFill>
                  <a:srgbClr val="E9E0D1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E9E0D1"/>
                </a:solidFill>
                <a:latin typeface="Arial"/>
                <a:ea typeface="Arial"/>
                <a:cs typeface="Arial"/>
              </a:rPr>
              <a:t>hard filters + local rank</a:t>
            </a:r>
          </a:p>
        </p:txBody>
      </p:sp>
      <p:sp>
        <p:nvSpPr>
          <p:cNvPr id="21" name="architecture-arrow-2">
            <a:extLst xmlns:a="http://schemas.openxmlformats.org/drawingml/2006/main">
              <a:ext uri="{FF2B5EF4-FFF2-40B4-BE49-F238E27FC236}">
                <a16:creationId xmlns:a16="http://schemas.microsoft.com/office/drawing/2014/main" id="{860A259E-FBBC-4B42-A6E5-6CA2497EE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371850"/>
            <a:ext cx="247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250" b="1">
                <a:solidFill>
                  <a:srgbClr val="2A8EF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A8EF0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2" name="architecture-box-3">
            <a:extLst xmlns:a="http://schemas.openxmlformats.org/drawingml/2006/main">
              <a:ext uri="{FF2B5EF4-FFF2-40B4-BE49-F238E27FC236}">
                <a16:creationId xmlns:a16="http://schemas.microsoft.com/office/drawing/2014/main" id="{4F255854-A6E6-44EC-9DB7-5FAD3AB4A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609850"/>
            <a:ext cx="1828800" cy="20193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25221F"/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23" name="architecture-accent-3">
            <a:extLst xmlns:a="http://schemas.openxmlformats.org/drawingml/2006/main">
              <a:ext uri="{FF2B5EF4-FFF2-40B4-BE49-F238E27FC236}">
                <a16:creationId xmlns:a16="http://schemas.microsoft.com/office/drawing/2014/main" id="{5795D37D-4D59-4A7B-A3B1-E285086EE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2838450"/>
            <a:ext cx="495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BC9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architecture-heading-3">
            <a:extLst xmlns:a="http://schemas.openxmlformats.org/drawingml/2006/main">
              <a:ext uri="{FF2B5EF4-FFF2-40B4-BE49-F238E27FC236}">
                <a16:creationId xmlns:a16="http://schemas.microsoft.com/office/drawing/2014/main" id="{4190A521-8F49-4561-99FB-2722CFB47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3067050"/>
            <a:ext cx="140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F5F0E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F0E7"/>
                </a:solidFill>
                <a:latin typeface="Arial"/>
                <a:ea typeface="Arial"/>
                <a:cs typeface="Arial"/>
              </a:rPr>
              <a:t>AI-слой</a:t>
            </a:r>
          </a:p>
        </p:txBody>
      </p:sp>
      <p:sp>
        <p:nvSpPr>
          <p:cNvPr id="25" name="architecture-body-3">
            <a:extLst xmlns:a="http://schemas.openxmlformats.org/drawingml/2006/main">
              <a:ext uri="{FF2B5EF4-FFF2-40B4-BE49-F238E27FC236}">
                <a16:creationId xmlns:a16="http://schemas.microsoft.com/office/drawing/2014/main" id="{8B3040FC-C1FD-44FD-B7D5-81E8D4EB5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3524250"/>
            <a:ext cx="1409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>
                <a:solidFill>
                  <a:srgbClr val="E9E0D1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E9E0D1"/>
                </a:solidFill>
                <a:latin typeface="Arial"/>
                <a:ea typeface="Arial"/>
                <a:cs typeface="Arial"/>
              </a:rPr>
              <a:t>interest analysis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>
                <a:solidFill>
                  <a:srgbClr val="E9E0D1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E9E0D1"/>
                </a:solidFill>
                <a:latin typeface="Arial"/>
                <a:ea typeface="Arial"/>
                <a:cs typeface="Arial"/>
              </a:rPr>
              <a:t>shortlist rerank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>
                <a:solidFill>
                  <a:srgbClr val="E9E0D1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E9E0D1"/>
                </a:solidFill>
                <a:latin typeface="Arial"/>
                <a:ea typeface="Arial"/>
                <a:cs typeface="Arial"/>
              </a:rPr>
              <a:t>structured fallback</a:t>
            </a:r>
          </a:p>
        </p:txBody>
      </p:sp>
      <p:sp>
        <p:nvSpPr>
          <p:cNvPr id="26" name="architecture-arrow-3">
            <a:extLst xmlns:a="http://schemas.openxmlformats.org/drawingml/2006/main">
              <a:ext uri="{FF2B5EF4-FFF2-40B4-BE49-F238E27FC236}">
                <a16:creationId xmlns:a16="http://schemas.microsoft.com/office/drawing/2014/main" id="{26DFA6B0-E65C-45B4-B9E0-262935A39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3371850"/>
            <a:ext cx="247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250" b="1">
                <a:solidFill>
                  <a:srgbClr val="2A8EF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A8EF0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7" name="architecture-box-4">
            <a:extLst xmlns:a="http://schemas.openxmlformats.org/drawingml/2006/main">
              <a:ext uri="{FF2B5EF4-FFF2-40B4-BE49-F238E27FC236}">
                <a16:creationId xmlns:a16="http://schemas.microsoft.com/office/drawing/2014/main" id="{5EA88D7D-3835-46C0-87B4-8FCCA07B4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609850"/>
            <a:ext cx="1828800" cy="20193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20242B"/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28" name="architecture-accent-4">
            <a:extLst xmlns:a="http://schemas.openxmlformats.org/drawingml/2006/main">
              <a:ext uri="{FF2B5EF4-FFF2-40B4-BE49-F238E27FC236}">
                <a16:creationId xmlns:a16="http://schemas.microsoft.com/office/drawing/2014/main" id="{2D774988-4F83-4EC2-82C4-4E64FE804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838450"/>
            <a:ext cx="495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B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architecture-heading-4">
            <a:extLst xmlns:a="http://schemas.openxmlformats.org/drawingml/2006/main">
              <a:ext uri="{FF2B5EF4-FFF2-40B4-BE49-F238E27FC236}">
                <a16:creationId xmlns:a16="http://schemas.microsoft.com/office/drawing/2014/main" id="{83285B9A-903B-4146-B4AC-5ADFFB81F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067050"/>
            <a:ext cx="140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F5F0E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F0E7"/>
                </a:solidFill>
                <a:latin typeface="Arial"/>
                <a:ea typeface="Arial"/>
                <a:cs typeface="Arial"/>
              </a:rPr>
              <a:t>Результат</a:t>
            </a:r>
          </a:p>
        </p:txBody>
      </p:sp>
      <p:sp>
        <p:nvSpPr>
          <p:cNvPr id="30" name="architecture-body-4">
            <a:extLst xmlns:a="http://schemas.openxmlformats.org/drawingml/2006/main">
              <a:ext uri="{FF2B5EF4-FFF2-40B4-BE49-F238E27FC236}">
                <a16:creationId xmlns:a16="http://schemas.microsoft.com/office/drawing/2014/main" id="{007B9F83-D500-408C-AD33-2563F1081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524250"/>
            <a:ext cx="1409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>
                <a:solidFill>
                  <a:srgbClr val="E9E0D1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E9E0D1"/>
                </a:solidFill>
                <a:latin typeface="Arial"/>
                <a:ea typeface="Arial"/>
                <a:cs typeface="Arial"/>
              </a:rPr>
              <a:t>Top-K вариантов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>
                <a:solidFill>
                  <a:srgbClr val="E9E0D1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E9E0D1"/>
                </a:solidFill>
                <a:latin typeface="Arial"/>
                <a:ea typeface="Arial"/>
                <a:cs typeface="Arial"/>
              </a:rPr>
              <a:t>why it fits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>
                <a:solidFill>
                  <a:srgbClr val="E9E0D1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E9E0D1"/>
                </a:solidFill>
                <a:latin typeface="Arial"/>
                <a:ea typeface="Arial"/>
                <a:cs typeface="Arial"/>
              </a:rPr>
              <a:t>goal → plan → Coach</a:t>
            </a:r>
          </a:p>
        </p:txBody>
      </p:sp>
      <p:sp>
        <p:nvSpPr>
          <p:cNvPr id="31" name="architecture-guardrail">
            <a:extLst xmlns:a="http://schemas.openxmlformats.org/drawingml/2006/main">
              <a:ext uri="{FF2B5EF4-FFF2-40B4-BE49-F238E27FC236}">
                <a16:creationId xmlns:a16="http://schemas.microsoft.com/office/drawing/2014/main" id="{17A86542-AC16-4B90-9695-39D6A1304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05400"/>
            <a:ext cx="1021080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A8EF0">
              <a:alpha val="12000"/>
            </a:srgbClr>
          </a:solidFill>
          <a:ln xmlns:a="http://schemas.openxmlformats.org/drawingml/2006/main" w="9525">
            <a:solidFill>
              <a:srgbClr val="2A8EF0">
                <a:alpha val="38000"/>
              </a:srgbClr>
            </a:solidFill>
            <a:prstDash val="solid"/>
          </a:ln>
        </p:spPr>
      </p:sp>
      <p:sp>
        <p:nvSpPr>
          <p:cNvPr id="32" name="architecture-guardrail-text">
            <a:extLst xmlns:a="http://schemas.openxmlformats.org/drawingml/2006/main">
              <a:ext uri="{FF2B5EF4-FFF2-40B4-BE49-F238E27FC236}">
                <a16:creationId xmlns:a16="http://schemas.microsoft.com/office/drawing/2014/main" id="{7D0C0B8B-1637-4C11-A9A3-2B9DF44AE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05425"/>
            <a:ext cx="9677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>
                <a:solidFill>
                  <a:srgbClr val="79B9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9B9FF"/>
                </a:solidFill>
                <a:latin typeface="Arial"/>
                <a:ea typeface="Arial"/>
                <a:cs typeface="Arial"/>
              </a:rPr>
              <a:t>Если AI недоступен, локальное ранжирование продолжает работу.</a:t>
            </a:r>
          </a:p>
        </p:txBody>
      </p:sp>
    </p:spTree>
    <p:extLst>
      <p:ext uri="{BB962C8B-B14F-4D97-AF65-F5344CB8AC3E}">
        <p14:creationId xmlns:p14="http://schemas.microsoft.com/office/powerpoint/2010/main" val="2068502111"/>
      </p:ext>
    </p:extLst>
  </p:cSld>
</p:sld>
</file>

<file path=ppt/slides/slide6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7F4EE"/>
            </a:gs>
            <a:gs pos="100000">
              <a:srgbClr val="EEE7DC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chrome-label-6">
            <a:extLst xmlns:a="http://schemas.openxmlformats.org/drawingml/2006/main">
              <a:ext uri="{FF2B5EF4-FFF2-40B4-BE49-F238E27FC236}">
                <a16:creationId xmlns:a16="http://schemas.microsoft.com/office/drawing/2014/main" id="{2827258F-7EE1-431B-87D4-52674CA4F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69707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97078"/>
                </a:solidFill>
                <a:latin typeface="Arial"/>
                <a:ea typeface="Arial"/>
                <a:cs typeface="Arial"/>
              </a:rPr>
              <a:t>NCT NAVIGATOR</a:t>
            </a:r>
          </a:p>
        </p:txBody>
      </p:sp>
      <p:sp>
        <p:nvSpPr>
          <p:cNvPr id="2" name="chrome-number-6">
            <a:extLst xmlns:a="http://schemas.openxmlformats.org/drawingml/2006/main">
              <a:ext uri="{FF2B5EF4-FFF2-40B4-BE49-F238E27FC236}">
                <a16:creationId xmlns:a16="http://schemas.microsoft.com/office/drawing/2014/main" id="{84A51EA4-BC9F-4049-8660-E6DDE4684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362700"/>
            <a:ext cx="99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0E111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E1114"/>
                </a:solidFill>
                <a:latin typeface="Arial"/>
                <a:ea typeface="Arial"/>
                <a:cs typeface="Arial"/>
              </a:rPr>
              <a:t>06 / 07</a:t>
            </a:r>
          </a:p>
        </p:txBody>
      </p:sp>
      <p:sp>
        <p:nvSpPr>
          <p:cNvPr id="3" name="chrome-rule-6">
            <a:extLst xmlns:a="http://schemas.openxmlformats.org/drawingml/2006/main">
              <a:ext uri="{FF2B5EF4-FFF2-40B4-BE49-F238E27FC236}">
                <a16:creationId xmlns:a16="http://schemas.microsoft.com/office/drawing/2014/main" id="{36C64053-AC0B-41DD-B077-02ACE0B39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114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kicker-ЦВЭ / ИМД-2026 — это масштабная задача навигации">
            <a:extLst xmlns:a="http://schemas.openxmlformats.org/drawingml/2006/main">
              <a:ext uri="{FF2B5EF4-FFF2-40B4-BE49-F238E27FC236}">
                <a16:creationId xmlns:a16="http://schemas.microsoft.com/office/drawing/2014/main" id="{C11F84C4-72C1-4EB2-BC54-47410F45D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2A8EF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A8EF0"/>
                </a:solidFill>
                <a:latin typeface="Arial"/>
                <a:ea typeface="Arial"/>
                <a:cs typeface="Arial"/>
              </a:rPr>
              <a:t>СТАТИСТИКА АБИТУРИЕНТОВ</a:t>
            </a:r>
          </a:p>
        </p:txBody>
      </p:sp>
      <p:sp>
        <p:nvSpPr>
          <p:cNvPr id="5" name="title-ЦВЭ / ИМД-2026 — это масштабная задача навигации">
            <a:extLst xmlns:a="http://schemas.openxmlformats.org/drawingml/2006/main">
              <a:ext uri="{FF2B5EF4-FFF2-40B4-BE49-F238E27FC236}">
                <a16:creationId xmlns:a16="http://schemas.microsoft.com/office/drawing/2014/main" id="{705215EE-207F-4A5A-B98F-DB8D983AD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000" b="1">
                <a:solidFill>
                  <a:srgbClr val="0E1114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E1114"/>
                </a:solidFill>
                <a:latin typeface="Arial"/>
                <a:ea typeface="Arial"/>
                <a:cs typeface="Arial"/>
              </a:rPr>
              <a:t>ЦВЭ / ИМД-2026 — это масштабная задача навигации</a:t>
            </a:r>
          </a:p>
        </p:txBody>
      </p:sp>
      <p:sp>
        <p:nvSpPr>
          <p:cNvPr id="6" name="stats-date">
            <a:extLst xmlns:a="http://schemas.openxmlformats.org/drawingml/2006/main">
              <a:ext uri="{FF2B5EF4-FFF2-40B4-BE49-F238E27FC236}">
                <a16:creationId xmlns:a16="http://schemas.microsoft.com/office/drawing/2014/main" id="{E2485018-D13C-4E8D-A372-955E7BABC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>
                <a:solidFill>
                  <a:srgbClr val="697078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697078"/>
                </a:solidFill>
                <a:latin typeface="Arial"/>
                <a:ea typeface="Arial"/>
                <a:cs typeface="Arial"/>
              </a:rPr>
              <a:t>официальные данные НЦТ · публикации 01 и 15 июля 2026</a:t>
            </a:r>
          </a:p>
        </p:txBody>
      </p:sp>
      <p:sp>
        <p:nvSpPr>
          <p:cNvPr id="7" name="stats-main-value">
            <a:extLst xmlns:a="http://schemas.openxmlformats.org/drawingml/2006/main">
              <a:ext uri="{FF2B5EF4-FFF2-40B4-BE49-F238E27FC236}">
                <a16:creationId xmlns:a16="http://schemas.microsoft.com/office/drawing/2014/main" id="{7E671ECA-0622-43F2-8EA7-DAD68907D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4286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5100" b="1">
                <a:solidFill>
                  <a:srgbClr val="0E1114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0E1114"/>
                </a:solidFill>
                <a:latin typeface="Arial"/>
                <a:ea typeface="Arial"/>
                <a:cs typeface="Arial"/>
              </a:rPr>
              <a:t>139 163</a:t>
            </a:r>
          </a:p>
        </p:txBody>
      </p:sp>
      <p:sp>
        <p:nvSpPr>
          <p:cNvPr id="8" name="stats-main-label">
            <a:extLst xmlns:a="http://schemas.openxmlformats.org/drawingml/2006/main">
              <a:ext uri="{FF2B5EF4-FFF2-40B4-BE49-F238E27FC236}">
                <a16:creationId xmlns:a16="http://schemas.microsoft.com/office/drawing/2014/main" id="{D1DBD8AF-0384-4B32-AA17-22E02CD9B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419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>
                <a:solidFill>
                  <a:srgbClr val="697078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697078"/>
                </a:solidFill>
                <a:latin typeface="Arial"/>
                <a:ea typeface="Arial"/>
                <a:cs typeface="Arial"/>
              </a:rPr>
              <a:t>зарегистрированы в основном периоде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500">
                <a:solidFill>
                  <a:srgbClr val="697078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697078"/>
                </a:solidFill>
                <a:latin typeface="Arial"/>
                <a:ea typeface="Arial"/>
                <a:cs typeface="Arial"/>
              </a:rPr>
              <a:t>2 марта — 30 апреля 2026</a:t>
            </a:r>
          </a:p>
        </p:txBody>
      </p:sp>
      <p:sp>
        <p:nvSpPr>
          <p:cNvPr id="9" name="stats-main-rule">
            <a:extLst xmlns:a="http://schemas.openxmlformats.org/drawingml/2006/main">
              <a:ext uri="{FF2B5EF4-FFF2-40B4-BE49-F238E27FC236}">
                <a16:creationId xmlns:a16="http://schemas.microsoft.com/office/drawing/2014/main" id="{92FE4C39-5F21-444A-9C7B-5D0CDFE08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29050"/>
            <a:ext cx="114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8E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tats-split-label">
            <a:extLst xmlns:a="http://schemas.openxmlformats.org/drawingml/2006/main">
              <a:ext uri="{FF2B5EF4-FFF2-40B4-BE49-F238E27FC236}">
                <a16:creationId xmlns:a16="http://schemas.microsoft.com/office/drawing/2014/main" id="{70688519-9283-4BC6-80CE-584BF7D5B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2098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E111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114"/>
                </a:solidFill>
                <a:latin typeface="Arial"/>
                <a:ea typeface="Arial"/>
                <a:cs typeface="Arial"/>
              </a:rPr>
              <a:t>Кто вошёл в основной поток</a:t>
            </a:r>
          </a:p>
        </p:txBody>
      </p:sp>
      <p:sp>
        <p:nvSpPr>
          <p:cNvPr id="11" name="stats-after-11-value">
            <a:extLst xmlns:a="http://schemas.openxmlformats.org/drawingml/2006/main">
              <a:ext uri="{FF2B5EF4-FFF2-40B4-BE49-F238E27FC236}">
                <a16:creationId xmlns:a16="http://schemas.microsoft.com/office/drawing/2014/main" id="{9015C7FC-3D29-4A67-A2C6-27FAF4C81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70510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375" b="1">
                <a:solidFill>
                  <a:srgbClr val="2A8EF0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2A8EF0"/>
                </a:solidFill>
                <a:latin typeface="Arial"/>
                <a:ea typeface="Arial"/>
                <a:cs typeface="Arial"/>
              </a:rPr>
              <a:t>116 560</a:t>
            </a:r>
          </a:p>
        </p:txBody>
      </p:sp>
      <p:sp>
        <p:nvSpPr>
          <p:cNvPr id="12" name="stats-after-11-label">
            <a:extLst xmlns:a="http://schemas.openxmlformats.org/drawingml/2006/main">
              <a:ext uri="{FF2B5EF4-FFF2-40B4-BE49-F238E27FC236}">
                <a16:creationId xmlns:a16="http://schemas.microsoft.com/office/drawing/2014/main" id="{38233ED8-702E-442B-8ACC-7013D77D9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219450"/>
            <a:ext cx="323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350">
                <a:solidFill>
                  <a:srgbClr val="697078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697078"/>
                </a:solidFill>
                <a:latin typeface="Arial"/>
                <a:ea typeface="Arial"/>
                <a:cs typeface="Arial"/>
              </a:rPr>
              <a:t>после 11 класса /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1350">
                <a:solidFill>
                  <a:srgbClr val="697078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697078"/>
                </a:solidFill>
                <a:latin typeface="Arial"/>
                <a:ea typeface="Arial"/>
                <a:cs typeface="Arial"/>
              </a:rPr>
              <a:t>начального и среднего проф. образования</a:t>
            </a:r>
          </a:p>
        </p:txBody>
      </p:sp>
      <p:sp>
        <p:nvSpPr>
          <p:cNvPr id="13" name="stats-after-9-value">
            <a:extLst xmlns:a="http://schemas.openxmlformats.org/drawingml/2006/main">
              <a:ext uri="{FF2B5EF4-FFF2-40B4-BE49-F238E27FC236}">
                <a16:creationId xmlns:a16="http://schemas.microsoft.com/office/drawing/2014/main" id="{2FBF94AC-8A96-49CF-93BD-DBF15B339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705100"/>
            <a:ext cx="200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375" b="1">
                <a:solidFill>
                  <a:srgbClr val="B49770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B49770"/>
                </a:solidFill>
                <a:latin typeface="Arial"/>
                <a:ea typeface="Arial"/>
                <a:cs typeface="Arial"/>
              </a:rPr>
              <a:t>22 603</a:t>
            </a:r>
          </a:p>
        </p:txBody>
      </p:sp>
      <p:sp>
        <p:nvSpPr>
          <p:cNvPr id="14" name="stats-after-9-label">
            <a:extLst xmlns:a="http://schemas.openxmlformats.org/drawingml/2006/main">
              <a:ext uri="{FF2B5EF4-FFF2-40B4-BE49-F238E27FC236}">
                <a16:creationId xmlns:a16="http://schemas.microsoft.com/office/drawing/2014/main" id="{414E01B9-9397-4056-A055-63E49FA27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194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>
                <a:solidFill>
                  <a:srgbClr val="697078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697078"/>
                </a:solidFill>
                <a:latin typeface="Arial"/>
                <a:ea typeface="Arial"/>
                <a:cs typeface="Arial"/>
              </a:rPr>
              <a:t>после 9 класса</a:t>
            </a:r>
          </a:p>
        </p:txBody>
      </p:sp>
      <p:sp>
        <p:nvSpPr>
          <p:cNvPr id="15" name="stats-bar-bg">
            <a:extLst xmlns:a="http://schemas.openxmlformats.org/drawingml/2006/main">
              <a:ext uri="{FF2B5EF4-FFF2-40B4-BE49-F238E27FC236}">
                <a16:creationId xmlns:a16="http://schemas.microsoft.com/office/drawing/2014/main" id="{606F3008-AD3C-4A4E-8CFE-D8EBBA1C1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9052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114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tats-bar-after-11">
            <a:extLst xmlns:a="http://schemas.openxmlformats.org/drawingml/2006/main">
              <a:ext uri="{FF2B5EF4-FFF2-40B4-BE49-F238E27FC236}">
                <a16:creationId xmlns:a16="http://schemas.microsoft.com/office/drawing/2014/main" id="{B0120CF6-35BD-4D39-80A7-E2F488508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905250"/>
            <a:ext cx="415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8E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tats-bar-after-9">
            <a:extLst xmlns:a="http://schemas.openxmlformats.org/drawingml/2006/main">
              <a:ext uri="{FF2B5EF4-FFF2-40B4-BE49-F238E27FC236}">
                <a16:creationId xmlns:a16="http://schemas.microsoft.com/office/drawing/2014/main" id="{25C499B2-7AFA-47EB-9A33-DFE74C0D3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905250"/>
            <a:ext cx="800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97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tats-bar-caption">
            <a:extLst xmlns:a="http://schemas.openxmlformats.org/drawingml/2006/main">
              <a:ext uri="{FF2B5EF4-FFF2-40B4-BE49-F238E27FC236}">
                <a16:creationId xmlns:a16="http://schemas.microsoft.com/office/drawing/2014/main" id="{DEE70256-867B-464B-B620-D997E99BF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22910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1">
                <a:solidFill>
                  <a:srgbClr val="2A8EF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A8EF0"/>
                </a:solidFill>
                <a:latin typeface="Arial"/>
                <a:ea typeface="Arial"/>
                <a:cs typeface="Arial"/>
              </a:rPr>
              <a:t>84%</a:t>
            </a:r>
          </a:p>
        </p:txBody>
      </p:sp>
      <p:sp>
        <p:nvSpPr>
          <p:cNvPr id="19" name="stats-bar-caption-2">
            <a:extLst xmlns:a="http://schemas.openxmlformats.org/drawingml/2006/main">
              <a:ext uri="{FF2B5EF4-FFF2-40B4-BE49-F238E27FC236}">
                <a16:creationId xmlns:a16="http://schemas.microsoft.com/office/drawing/2014/main" id="{F4B2D93F-05ED-4138-A25E-D304B60CD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422910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1">
                <a:solidFill>
                  <a:srgbClr val="B497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49770"/>
                </a:solidFill>
                <a:latin typeface="Arial"/>
                <a:ea typeface="Arial"/>
                <a:cs typeface="Arial"/>
              </a:rPr>
              <a:t>16%</a:t>
            </a:r>
          </a:p>
        </p:txBody>
      </p:sp>
      <p:sp>
        <p:nvSpPr>
          <p:cNvPr id="20" name="stats-bottom-rule-0">
            <a:extLst xmlns:a="http://schemas.openxmlformats.org/drawingml/2006/main">
              <a:ext uri="{FF2B5EF4-FFF2-40B4-BE49-F238E27FC236}">
                <a16:creationId xmlns:a16="http://schemas.microsoft.com/office/drawing/2014/main" id="{3DA759E3-E288-4D3A-9373-30733163F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1809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97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stats-bottom-value-0">
            <a:extLst xmlns:a="http://schemas.openxmlformats.org/drawingml/2006/main">
              <a:ext uri="{FF2B5EF4-FFF2-40B4-BE49-F238E27FC236}">
                <a16:creationId xmlns:a16="http://schemas.microsoft.com/office/drawing/2014/main" id="{B3C99E80-8053-44D1-B795-43FDDDF26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863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>
                <a:solidFill>
                  <a:srgbClr val="0E1114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E1114"/>
                </a:solidFill>
                <a:latin typeface="Arial"/>
                <a:ea typeface="Arial"/>
                <a:cs typeface="Arial"/>
              </a:rPr>
              <a:t>10 394</a:t>
            </a:r>
          </a:p>
        </p:txBody>
      </p:sp>
      <p:sp>
        <p:nvSpPr>
          <p:cNvPr id="22" name="stats-bottom-label-0">
            <a:extLst xmlns:a="http://schemas.openxmlformats.org/drawingml/2006/main">
              <a:ext uri="{FF2B5EF4-FFF2-40B4-BE49-F238E27FC236}">
                <a16:creationId xmlns:a16="http://schemas.microsoft.com/office/drawing/2014/main" id="{099548A7-332A-4C11-A2A8-4CB96A065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435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>
                <a:solidFill>
                  <a:srgbClr val="69707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97078"/>
                </a:solidFill>
                <a:latin typeface="Arial"/>
                <a:ea typeface="Arial"/>
                <a:cs typeface="Arial"/>
              </a:rPr>
              <a:t>второй период регистрации</a:t>
            </a:r>
          </a:p>
        </p:txBody>
      </p:sp>
      <p:sp>
        <p:nvSpPr>
          <p:cNvPr id="23" name="stats-bottom-rule-1">
            <a:extLst xmlns:a="http://schemas.openxmlformats.org/drawingml/2006/main">
              <a:ext uri="{FF2B5EF4-FFF2-40B4-BE49-F238E27FC236}">
                <a16:creationId xmlns:a16="http://schemas.microsoft.com/office/drawing/2014/main" id="{07AB8304-0D7A-4456-9318-736D13B2F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895850"/>
            <a:ext cx="1809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8E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stats-bottom-value-1">
            <a:extLst xmlns:a="http://schemas.openxmlformats.org/drawingml/2006/main">
              <a:ext uri="{FF2B5EF4-FFF2-40B4-BE49-F238E27FC236}">
                <a16:creationId xmlns:a16="http://schemas.microsoft.com/office/drawing/2014/main" id="{D7D0071A-849A-46E2-BE59-616C5CEAF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0863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>
                <a:solidFill>
                  <a:srgbClr val="0E1114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E1114"/>
                </a:solidFill>
                <a:latin typeface="Arial"/>
                <a:ea typeface="Arial"/>
                <a:cs typeface="Arial"/>
              </a:rPr>
              <a:t>55</a:t>
            </a:r>
          </a:p>
        </p:txBody>
      </p:sp>
      <p:sp>
        <p:nvSpPr>
          <p:cNvPr id="25" name="stats-bottom-label-1">
            <a:extLst xmlns:a="http://schemas.openxmlformats.org/drawingml/2006/main">
              <a:ext uri="{FF2B5EF4-FFF2-40B4-BE49-F238E27FC236}">
                <a16:creationId xmlns:a16="http://schemas.microsoft.com/office/drawing/2014/main" id="{E41AD9C1-5D7B-4437-9EE8-D2824D3C2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5435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>
                <a:solidFill>
                  <a:srgbClr val="69707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97078"/>
                </a:solidFill>
                <a:latin typeface="Arial"/>
                <a:ea typeface="Arial"/>
                <a:cs typeface="Arial"/>
              </a:rPr>
              <a:t>экзаменационных центров</a:t>
            </a:r>
          </a:p>
        </p:txBody>
      </p:sp>
      <p:sp>
        <p:nvSpPr>
          <p:cNvPr id="26" name="stats-bottom-rule-2">
            <a:extLst xmlns:a="http://schemas.openxmlformats.org/drawingml/2006/main">
              <a:ext uri="{FF2B5EF4-FFF2-40B4-BE49-F238E27FC236}">
                <a16:creationId xmlns:a16="http://schemas.microsoft.com/office/drawing/2014/main" id="{BE719117-5C20-489A-97A9-DF2D503E8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895850"/>
            <a:ext cx="1809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8E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stats-bottom-value-2">
            <a:extLst xmlns:a="http://schemas.openxmlformats.org/drawingml/2006/main">
              <a:ext uri="{FF2B5EF4-FFF2-40B4-BE49-F238E27FC236}">
                <a16:creationId xmlns:a16="http://schemas.microsoft.com/office/drawing/2014/main" id="{FA63DBC2-CE30-4733-A8A7-398FB3E44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863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>
                <a:solidFill>
                  <a:srgbClr val="0E1114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E1114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28" name="stats-bottom-label-2">
            <a:extLst xmlns:a="http://schemas.openxmlformats.org/drawingml/2006/main">
              <a:ext uri="{FF2B5EF4-FFF2-40B4-BE49-F238E27FC236}">
                <a16:creationId xmlns:a16="http://schemas.microsoft.com/office/drawing/2014/main" id="{0F99CCD2-6EAD-463D-BB23-D5858B2BD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5435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>
                <a:solidFill>
                  <a:srgbClr val="69707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97078"/>
                </a:solidFill>
                <a:latin typeface="Arial"/>
                <a:ea typeface="Arial"/>
                <a:cs typeface="Arial"/>
              </a:rPr>
              <a:t>города и района</a:t>
            </a:r>
          </a:p>
        </p:txBody>
      </p:sp>
      <p:sp>
        <p:nvSpPr>
          <p:cNvPr id="29" name="stats-bottom-rule-3">
            <a:extLst xmlns:a="http://schemas.openxmlformats.org/drawingml/2006/main">
              <a:ext uri="{FF2B5EF4-FFF2-40B4-BE49-F238E27FC236}">
                <a16:creationId xmlns:a16="http://schemas.microsoft.com/office/drawing/2014/main" id="{01D0DCC7-89BC-4F2C-A1D2-0E9074F5D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895850"/>
            <a:ext cx="1809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8E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stats-bottom-value-3">
            <a:extLst xmlns:a="http://schemas.openxmlformats.org/drawingml/2006/main">
              <a:ext uri="{FF2B5EF4-FFF2-40B4-BE49-F238E27FC236}">
                <a16:creationId xmlns:a16="http://schemas.microsoft.com/office/drawing/2014/main" id="{AFB641EF-9B22-4DEA-8C75-CE02C5758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0863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>
                <a:solidFill>
                  <a:srgbClr val="0E1114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E1114"/>
                </a:solidFill>
                <a:latin typeface="Arial"/>
                <a:ea typeface="Arial"/>
                <a:cs typeface="Arial"/>
              </a:rPr>
              <a:t>1 527</a:t>
            </a:r>
          </a:p>
        </p:txBody>
      </p:sp>
      <p:sp>
        <p:nvSpPr>
          <p:cNvPr id="31" name="stats-bottom-label-3">
            <a:extLst xmlns:a="http://schemas.openxmlformats.org/drawingml/2006/main">
              <a:ext uri="{FF2B5EF4-FFF2-40B4-BE49-F238E27FC236}">
                <a16:creationId xmlns:a16="http://schemas.microsoft.com/office/drawing/2014/main" id="{AFE6F01E-90E5-41B6-BAAE-6D7B2D22E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5435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>
                <a:solidFill>
                  <a:srgbClr val="69707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97078"/>
                </a:solidFill>
                <a:latin typeface="Arial"/>
                <a:ea typeface="Arial"/>
                <a:cs typeface="Arial"/>
              </a:rPr>
              <a:t>аудиторий</a:t>
            </a:r>
          </a:p>
        </p:txBody>
      </p:sp>
    </p:spTree>
    <p:extLst>
      <p:ext uri="{BB962C8B-B14F-4D97-AF65-F5344CB8AC3E}">
        <p14:creationId xmlns:p14="http://schemas.microsoft.com/office/powerpoint/2010/main" val="1308991911"/>
      </p:ext>
    </p:extLst>
  </p:cSld>
</p:sld>
</file>

<file path=ppt/slides/slide7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C0F13"/>
            </a:gs>
            <a:gs pos="58000">
              <a:srgbClr val="15191F"/>
            </a:gs>
            <a:gs pos="100000">
              <a:srgbClr val="241D17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chrome-label-7">
            <a:extLst xmlns:a="http://schemas.openxmlformats.org/drawingml/2006/main">
              <a:ext uri="{FF2B5EF4-FFF2-40B4-BE49-F238E27FC236}">
                <a16:creationId xmlns:a16="http://schemas.microsoft.com/office/drawing/2014/main" id="{D3EBDC8E-FEE5-43B3-BF0D-63852E14C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9AA0A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9AA0A5"/>
                </a:solidFill>
                <a:latin typeface="Arial"/>
                <a:ea typeface="Arial"/>
                <a:cs typeface="Arial"/>
              </a:rPr>
              <a:t>NCT NAVIGATOR</a:t>
            </a:r>
          </a:p>
        </p:txBody>
      </p:sp>
      <p:sp>
        <p:nvSpPr>
          <p:cNvPr id="2" name="chrome-number-7">
            <a:extLst xmlns:a="http://schemas.openxmlformats.org/drawingml/2006/main">
              <a:ext uri="{FF2B5EF4-FFF2-40B4-BE49-F238E27FC236}">
                <a16:creationId xmlns:a16="http://schemas.microsoft.com/office/drawing/2014/main" id="{79AA68FC-F863-41F1-816D-F1648D39D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362700"/>
            <a:ext cx="99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E9E0D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9E0D1"/>
                </a:solidFill>
                <a:latin typeface="Arial"/>
                <a:ea typeface="Arial"/>
                <a:cs typeface="Arial"/>
              </a:rPr>
              <a:t>07 / 07</a:t>
            </a:r>
          </a:p>
        </p:txBody>
      </p:sp>
      <p:sp>
        <p:nvSpPr>
          <p:cNvPr id="3" name="chrome-rule-7">
            <a:extLst xmlns:a="http://schemas.openxmlformats.org/drawingml/2006/main">
              <a:ext uri="{FF2B5EF4-FFF2-40B4-BE49-F238E27FC236}">
                <a16:creationId xmlns:a16="http://schemas.microsoft.com/office/drawing/2014/main" id="{B1FC71EA-EE20-41F0-B657-6F31595E6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losing-orbit-outer">
            <a:extLst xmlns:a="http://schemas.openxmlformats.org/drawingml/2006/main">
              <a:ext uri="{FF2B5EF4-FFF2-40B4-BE49-F238E27FC236}">
                <a16:creationId xmlns:a16="http://schemas.microsoft.com/office/drawing/2014/main" id="{E8FBD191-9F38-44C9-B994-6076FE2FD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885950"/>
            <a:ext cx="1714500" cy="113157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BC95">
                <a:alpha val="18000"/>
              </a:srgbClr>
            </a:solidFill>
            <a:prstDash val="solid"/>
          </a:ln>
        </p:spPr>
      </p:sp>
      <p:sp>
        <p:nvSpPr>
          <p:cNvPr id="5" name="closing-orbit-inner">
            <a:extLst xmlns:a="http://schemas.openxmlformats.org/drawingml/2006/main">
              <a:ext uri="{FF2B5EF4-FFF2-40B4-BE49-F238E27FC236}">
                <a16:creationId xmlns:a16="http://schemas.microsoft.com/office/drawing/2014/main" id="{523D2A88-0BBA-4A5F-B08C-68AF4BD29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0280" y="2125980"/>
            <a:ext cx="1234440" cy="65151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BC95">
                <a:alpha val="18000"/>
              </a:srgbClr>
            </a:solidFill>
            <a:prstDash val="solid"/>
          </a:ln>
        </p:spPr>
      </p:sp>
      <p:sp>
        <p:nvSpPr>
          <p:cNvPr id="6" name="closing-orbit-dot">
            <a:extLst xmlns:a="http://schemas.openxmlformats.org/drawingml/2006/main">
              <a:ext uri="{FF2B5EF4-FFF2-40B4-BE49-F238E27FC236}">
                <a16:creationId xmlns:a16="http://schemas.microsoft.com/office/drawing/2014/main" id="{96A12EBB-7F22-4469-80A5-B897EFE75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3270" y="20574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8E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kicker-Абитуриенту нужен не список, а маршрут">
            <a:extLst xmlns:a="http://schemas.openxmlformats.org/drawingml/2006/main">
              <a:ext uri="{FF2B5EF4-FFF2-40B4-BE49-F238E27FC236}">
                <a16:creationId xmlns:a16="http://schemas.microsoft.com/office/drawing/2014/main" id="{99153D8D-F4A2-457E-ADAD-33FCAC8DA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D5BC9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D5BC95"/>
                </a:solidFill>
                <a:latin typeface="Arial"/>
                <a:ea typeface="Arial"/>
                <a:cs typeface="Arial"/>
              </a:rPr>
              <a:t>ЗАКЛЮЧЕНИЕ</a:t>
            </a:r>
          </a:p>
        </p:txBody>
      </p:sp>
      <p:sp>
        <p:nvSpPr>
          <p:cNvPr id="8" name="title-Абитуриенту нужен не список, а маршрут">
            <a:extLst xmlns:a="http://schemas.openxmlformats.org/drawingml/2006/main">
              <a:ext uri="{FF2B5EF4-FFF2-40B4-BE49-F238E27FC236}">
                <a16:creationId xmlns:a16="http://schemas.microsoft.com/office/drawing/2014/main" id="{28153C24-9F80-438E-A080-16F303A1B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906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000" b="1">
                <a:solidFill>
                  <a:srgbClr val="F5F0E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5F0E7"/>
                </a:solidFill>
                <a:latin typeface="Arial"/>
                <a:ea typeface="Arial"/>
                <a:cs typeface="Arial"/>
              </a:rPr>
              <a:t>Абитуриенту нужен не список, а маршрут</a:t>
            </a:r>
          </a:p>
        </p:txBody>
      </p:sp>
      <p:sp>
        <p:nvSpPr>
          <p:cNvPr id="9" name="closing-lead">
            <a:extLst xmlns:a="http://schemas.openxmlformats.org/drawingml/2006/main">
              <a:ext uri="{FF2B5EF4-FFF2-40B4-BE49-F238E27FC236}">
                <a16:creationId xmlns:a16="http://schemas.microsoft.com/office/drawing/2014/main" id="{50021D77-86A8-47DE-A480-236059382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628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1">
                <a:solidFill>
                  <a:srgbClr val="F5F0E7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5F0E7"/>
                </a:solidFill>
                <a:latin typeface="Arial"/>
                <a:ea typeface="Arial"/>
                <a:cs typeface="Arial"/>
              </a:rPr>
              <a:t>NCT Navigator превращает выбор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2400" b="1">
                <a:solidFill>
                  <a:srgbClr val="F5F0E7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5F0E7"/>
                </a:solidFill>
                <a:latin typeface="Arial"/>
                <a:ea typeface="Arial"/>
                <a:cs typeface="Arial"/>
              </a:rPr>
              <a:t>в обоснованную цель и первые шаги.</a:t>
            </a:r>
          </a:p>
        </p:txBody>
      </p:sp>
      <p:sp>
        <p:nvSpPr>
          <p:cNvPr id="10" name="closing-rule">
            <a:extLst xmlns:a="http://schemas.openxmlformats.org/drawingml/2006/main">
              <a:ext uri="{FF2B5EF4-FFF2-40B4-BE49-F238E27FC236}">
                <a16:creationId xmlns:a16="http://schemas.microsoft.com/office/drawing/2014/main" id="{0C044C2B-164C-48AA-82A5-A19855F78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6100"/>
            <a:ext cx="800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8E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closing-dot-0">
            <a:extLst xmlns:a="http://schemas.openxmlformats.org/drawingml/2006/main">
              <a:ext uri="{FF2B5EF4-FFF2-40B4-BE49-F238E27FC236}">
                <a16:creationId xmlns:a16="http://schemas.microsoft.com/office/drawing/2014/main" id="{76236905-F67D-403C-AD04-9977B317F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1145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8E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losing-num-0">
            <a:extLst xmlns:a="http://schemas.openxmlformats.org/drawingml/2006/main">
              <a:ext uri="{FF2B5EF4-FFF2-40B4-BE49-F238E27FC236}">
                <a16:creationId xmlns:a16="http://schemas.microsoft.com/office/drawing/2014/main" id="{7ADF5BDE-6EF4-4C3A-AD79-A30F1F8D0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383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79B9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9B9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3" name="closing-heading-0">
            <a:extLst xmlns:a="http://schemas.openxmlformats.org/drawingml/2006/main">
              <a:ext uri="{FF2B5EF4-FFF2-40B4-BE49-F238E27FC236}">
                <a16:creationId xmlns:a16="http://schemas.microsoft.com/office/drawing/2014/main" id="{60961C60-5F7B-409A-B0C2-B90A164A5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0193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F5F0E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F0E7"/>
                </a:solidFill>
                <a:latin typeface="Arial"/>
                <a:ea typeface="Arial"/>
                <a:cs typeface="Arial"/>
              </a:rPr>
              <a:t>Данные НЦТ</a:t>
            </a:r>
          </a:p>
        </p:txBody>
      </p:sp>
      <p:sp>
        <p:nvSpPr>
          <p:cNvPr id="14" name="closing-body-0">
            <a:extLst xmlns:a="http://schemas.openxmlformats.org/drawingml/2006/main">
              <a:ext uri="{FF2B5EF4-FFF2-40B4-BE49-F238E27FC236}">
                <a16:creationId xmlns:a16="http://schemas.microsoft.com/office/drawing/2014/main" id="{67E0A5A9-BEB2-49EF-ACDD-6602731CA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0030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>
                <a:solidFill>
                  <a:srgbClr val="E9E0D1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E9E0D1"/>
                </a:solidFill>
                <a:latin typeface="Arial"/>
                <a:ea typeface="Arial"/>
                <a:cs typeface="Arial"/>
              </a:rPr>
              <a:t>источник остаётся источником</a:t>
            </a:r>
          </a:p>
        </p:txBody>
      </p:sp>
      <p:sp>
        <p:nvSpPr>
          <p:cNvPr id="15" name="closing-dot-1">
            <a:extLst xmlns:a="http://schemas.openxmlformats.org/drawingml/2006/main">
              <a:ext uri="{FF2B5EF4-FFF2-40B4-BE49-F238E27FC236}">
                <a16:creationId xmlns:a16="http://schemas.microsoft.com/office/drawing/2014/main" id="{8B24366A-E8D7-4770-9538-0DD2AEF6E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143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BC9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closing-num-1">
            <a:extLst xmlns:a="http://schemas.openxmlformats.org/drawingml/2006/main">
              <a:ext uri="{FF2B5EF4-FFF2-40B4-BE49-F238E27FC236}">
                <a16:creationId xmlns:a16="http://schemas.microsoft.com/office/drawing/2014/main" id="{DA3055DA-9FAD-40BB-96F4-28CD73144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0670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79B9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9B9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7" name="closing-heading-1">
            <a:extLst xmlns:a="http://schemas.openxmlformats.org/drawingml/2006/main">
              <a:ext uri="{FF2B5EF4-FFF2-40B4-BE49-F238E27FC236}">
                <a16:creationId xmlns:a16="http://schemas.microsoft.com/office/drawing/2014/main" id="{955D675C-F629-40D1-A514-32BD87BFA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0480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F5F0E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F0E7"/>
                </a:solidFill>
                <a:latin typeface="Arial"/>
                <a:ea typeface="Arial"/>
                <a:cs typeface="Arial"/>
              </a:rPr>
              <a:t>Понятный выбор</a:t>
            </a:r>
          </a:p>
        </p:txBody>
      </p:sp>
      <p:sp>
        <p:nvSpPr>
          <p:cNvPr id="18" name="closing-body-1">
            <a:extLst xmlns:a="http://schemas.openxmlformats.org/drawingml/2006/main">
              <a:ext uri="{FF2B5EF4-FFF2-40B4-BE49-F238E27FC236}">
                <a16:creationId xmlns:a16="http://schemas.microsoft.com/office/drawing/2014/main" id="{634D211B-3CCA-4AFB-9685-4D8494B1F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42900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>
                <a:solidFill>
                  <a:srgbClr val="E9E0D1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E9E0D1"/>
                </a:solidFill>
                <a:latin typeface="Arial"/>
                <a:ea typeface="Arial"/>
                <a:cs typeface="Arial"/>
              </a:rPr>
              <a:t>вариант объясняется человеческим языком</a:t>
            </a:r>
          </a:p>
        </p:txBody>
      </p:sp>
      <p:sp>
        <p:nvSpPr>
          <p:cNvPr id="19" name="closing-dot-2">
            <a:extLst xmlns:a="http://schemas.openxmlformats.org/drawingml/2006/main">
              <a:ext uri="{FF2B5EF4-FFF2-40B4-BE49-F238E27FC236}">
                <a16:creationId xmlns:a16="http://schemas.microsoft.com/office/drawing/2014/main" id="{3535C9D2-412C-4938-9B17-57267B6D3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171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8E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closing-num-2">
            <a:extLst xmlns:a="http://schemas.openxmlformats.org/drawingml/2006/main">
              <a:ext uri="{FF2B5EF4-FFF2-40B4-BE49-F238E27FC236}">
                <a16:creationId xmlns:a16="http://schemas.microsoft.com/office/drawing/2014/main" id="{1F48B76C-D9C6-4677-88C6-4B89B7AFF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0957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79B9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9B9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1" name="closing-heading-2">
            <a:extLst xmlns:a="http://schemas.openxmlformats.org/drawingml/2006/main">
              <a:ext uri="{FF2B5EF4-FFF2-40B4-BE49-F238E27FC236}">
                <a16:creationId xmlns:a16="http://schemas.microsoft.com/office/drawing/2014/main" id="{E431EA5B-5B28-4C56-90F2-044FCE4C0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767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F5F0E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F0E7"/>
                </a:solidFill>
                <a:latin typeface="Arial"/>
                <a:ea typeface="Arial"/>
                <a:cs typeface="Arial"/>
              </a:rPr>
              <a:t>Следующий шаг</a:t>
            </a:r>
          </a:p>
        </p:txBody>
      </p:sp>
      <p:sp>
        <p:nvSpPr>
          <p:cNvPr id="22" name="closing-body-2">
            <a:extLst xmlns:a="http://schemas.openxmlformats.org/drawingml/2006/main">
              <a:ext uri="{FF2B5EF4-FFF2-40B4-BE49-F238E27FC236}">
                <a16:creationId xmlns:a16="http://schemas.microsoft.com/office/drawing/2014/main" id="{264136A3-D743-49E2-B2FA-4983F3827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45770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>
                <a:solidFill>
                  <a:srgbClr val="E9E0D1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E9E0D1"/>
                </a:solidFill>
                <a:latin typeface="Arial"/>
                <a:ea typeface="Arial"/>
                <a:cs typeface="Arial"/>
              </a:rPr>
              <a:t>цель превращается в план и Coach</a:t>
            </a:r>
          </a:p>
        </p:txBody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99376cdebb4a89"/>
          <a:stretch xmlns:a="http://schemas.openxmlformats.org/drawingml/2006/main"/>
        </p:blipFill>
        <p:spPr>
          <a:xfrm xmlns:a="http://schemas.openxmlformats.org/drawingml/2006/main">
            <a:off x="890911" y="4762500"/>
            <a:ext cx="2066278" cy="1000125"/>
          </a:xfrm>
          <a:prstGeom xmlns:a="http://schemas.openxmlformats.org/drawingml/2006/main" prst="rect">
            <a:avLst/>
          </a:prstGeom>
        </p:spPr>
      </p:pic>
      <p:sp>
        <p:nvSpPr>
          <p:cNvPr id="24" name="closing-footer">
            <a:extLst xmlns:a="http://schemas.openxmlformats.org/drawingml/2006/main">
              <a:ext uri="{FF2B5EF4-FFF2-40B4-BE49-F238E27FC236}">
                <a16:creationId xmlns:a16="http://schemas.microsoft.com/office/drawing/2014/main" id="{2DEF6A4B-8775-469C-B342-64A73B530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20065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1">
                <a:solidFill>
                  <a:srgbClr val="D5BC9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5BC95"/>
                </a:solidFill>
                <a:latin typeface="Arial"/>
                <a:ea typeface="Arial"/>
                <a:cs typeface="Arial"/>
              </a:rPr>
              <a:t>Профиль  →  выбор  →  план</a:t>
            </a:r>
          </a:p>
        </p:txBody>
      </p:sp>
      <p:sp>
        <p:nvSpPr>
          <p:cNvPr id="25" name="closing-tagline">
            <a:extLst xmlns:a="http://schemas.openxmlformats.org/drawingml/2006/main">
              <a:ext uri="{FF2B5EF4-FFF2-40B4-BE49-F238E27FC236}">
                <a16:creationId xmlns:a16="http://schemas.microsoft.com/office/drawing/2014/main" id="{10B26E6E-8F2E-4CF4-80D1-53D7DBA38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60070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>
                <a:solidFill>
                  <a:srgbClr val="9AA0A5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9AA0A5"/>
                </a:solidFill>
                <a:latin typeface="Arial"/>
                <a:ea typeface="Arial"/>
                <a:cs typeface="Arial"/>
              </a:rPr>
              <a:t>Сделать следующий шаг понятным.</a:t>
            </a:r>
          </a:p>
        </p:txBody>
      </p:sp>
    </p:spTree>
    <p:extLst>
      <p:ext uri="{BB962C8B-B14F-4D97-AF65-F5344CB8AC3E}">
        <p14:creationId xmlns:p14="http://schemas.microsoft.com/office/powerpoint/2010/main" val="14023326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2026-08-20T13:22:34.3830000Z</dcterms:created>
  <dcterms:modified xsi:type="dcterms:W3CDTF">2026-08-20T13:22:34.3830000Z</dcterms:modified>
</coreProperties>
</file>